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ppt/tags/tag25.xml" ContentType="application/vnd.openxmlformats-officedocument.presentationml.tags+xml"/>
  <Override PartName="/ppt/notesSlides/notesSlide3.xml" ContentType="application/vnd.openxmlformats-officedocument.presentationml.notesSlide+xml"/>
  <Override PartName="/ppt/tags/tag26.xml" ContentType="application/vnd.openxmlformats-officedocument.presentationml.tags+xml"/>
  <Override PartName="/ppt/notesSlides/notesSlide4.xml" ContentType="application/vnd.openxmlformats-officedocument.presentationml.notesSlide+xml"/>
  <Override PartName="/ppt/tags/tag27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68" r:id="rId4"/>
  </p:sldMasterIdLst>
  <p:notesMasterIdLst>
    <p:notesMasterId r:id="rId10"/>
  </p:notesMasterIdLst>
  <p:sldIdLst>
    <p:sldId id="258" r:id="rId5"/>
    <p:sldId id="259" r:id="rId6"/>
    <p:sldId id="260" r:id="rId7"/>
    <p:sldId id="262" r:id="rId8"/>
    <p:sldId id="261" r:id="rId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EB6F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8A25CF-536A-4F48-905B-DD62540F9B75}" v="5922" dt="2026-03-31T09:24:11.854"/>
    <p1510:client id="{73CBAE44-B3A1-4F9E-97D6-EB5A352A039F}" v="1" dt="2026-03-30T06:31:52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Min Song" userId="f9a28cf1-6e73-4e9d-88c1-50ac1f7d8b99" providerId="ADAL" clId="{8AFFADCF-3461-4D14-9A04-29102FBC867D}"/>
    <pc:docChg chg="undo redo custSel addSld delSld modSld">
      <pc:chgData name="Kim, Min Song" userId="f9a28cf1-6e73-4e9d-88c1-50ac1f7d8b99" providerId="ADAL" clId="{8AFFADCF-3461-4D14-9A04-29102FBC867D}" dt="2026-03-31T09:24:11.854" v="8375" actId="20577"/>
      <pc:docMkLst>
        <pc:docMk/>
      </pc:docMkLst>
      <pc:sldChg chg="modSp add del mod">
        <pc:chgData name="Kim, Min Song" userId="f9a28cf1-6e73-4e9d-88c1-50ac1f7d8b99" providerId="ADAL" clId="{8AFFADCF-3461-4D14-9A04-29102FBC867D}" dt="2026-03-31T05:31:38.395" v="4682" actId="1076"/>
        <pc:sldMkLst>
          <pc:docMk/>
          <pc:sldMk cId="2288569186" sldId="258"/>
        </pc:sldMkLst>
        <pc:graphicFrameChg chg="mod">
          <ac:chgData name="Kim, Min Song" userId="f9a28cf1-6e73-4e9d-88c1-50ac1f7d8b99" providerId="ADAL" clId="{8AFFADCF-3461-4D14-9A04-29102FBC867D}" dt="2026-03-31T05:31:38.395" v="4682" actId="1076"/>
          <ac:graphicFrameMkLst>
            <pc:docMk/>
            <pc:sldMk cId="2288569186" sldId="258"/>
            <ac:graphicFrameMk id="7" creationId="{391DBFBF-2FF5-AB4D-C984-285D9FB8D453}"/>
          </ac:graphicFrameMkLst>
        </pc:graphicFrameChg>
      </pc:sldChg>
      <pc:sldChg chg="addSp modSp mod">
        <pc:chgData name="Kim, Min Song" userId="f9a28cf1-6e73-4e9d-88c1-50ac1f7d8b99" providerId="ADAL" clId="{8AFFADCF-3461-4D14-9A04-29102FBC867D}" dt="2026-03-31T05:53:02.815" v="4691" actId="14100"/>
        <pc:sldMkLst>
          <pc:docMk/>
          <pc:sldMk cId="4092224661" sldId="259"/>
        </pc:sldMkLst>
        <pc:spChg chg="mod">
          <ac:chgData name="Kim, Min Song" userId="f9a28cf1-6e73-4e9d-88c1-50ac1f7d8b99" providerId="ADAL" clId="{8AFFADCF-3461-4D14-9A04-29102FBC867D}" dt="2026-03-31T05:14:21.844" v="4200" actId="1076"/>
          <ac:spMkLst>
            <pc:docMk/>
            <pc:sldMk cId="4092224661" sldId="259"/>
            <ac:spMk id="2" creationId="{0B99E804-4779-D5F0-46C8-6689C0229FF8}"/>
          </ac:spMkLst>
        </pc:spChg>
        <pc:spChg chg="mod">
          <ac:chgData name="Kim, Min Song" userId="f9a28cf1-6e73-4e9d-88c1-50ac1f7d8b99" providerId="ADAL" clId="{8AFFADCF-3461-4D14-9A04-29102FBC867D}" dt="2026-03-31T05:14:21.844" v="4200" actId="1076"/>
          <ac:spMkLst>
            <pc:docMk/>
            <pc:sldMk cId="4092224661" sldId="259"/>
            <ac:spMk id="3" creationId="{A0053BD9-FEF0-89B6-F31A-19521D5A834C}"/>
          </ac:spMkLst>
        </pc:spChg>
        <pc:spChg chg="mod">
          <ac:chgData name="Kim, Min Song" userId="f9a28cf1-6e73-4e9d-88c1-50ac1f7d8b99" providerId="ADAL" clId="{8AFFADCF-3461-4D14-9A04-29102FBC867D}" dt="2026-03-31T05:14:21.844" v="4200" actId="1076"/>
          <ac:spMkLst>
            <pc:docMk/>
            <pc:sldMk cId="4092224661" sldId="259"/>
            <ac:spMk id="8" creationId="{D3854217-4FEE-3FFA-CCE0-843699D75D5B}"/>
          </ac:spMkLst>
        </pc:spChg>
        <pc:spChg chg="mod">
          <ac:chgData name="Kim, Min Song" userId="f9a28cf1-6e73-4e9d-88c1-50ac1f7d8b99" providerId="ADAL" clId="{8AFFADCF-3461-4D14-9A04-29102FBC867D}" dt="2026-03-31T05:14:21.844" v="4200" actId="1076"/>
          <ac:spMkLst>
            <pc:docMk/>
            <pc:sldMk cId="4092224661" sldId="259"/>
            <ac:spMk id="9" creationId="{16BC3413-E51A-925F-466D-27D2BE79DA8A}"/>
          </ac:spMkLst>
        </pc:spChg>
        <pc:spChg chg="mod">
          <ac:chgData name="Kim, Min Song" userId="f9a28cf1-6e73-4e9d-88c1-50ac1f7d8b99" providerId="ADAL" clId="{8AFFADCF-3461-4D14-9A04-29102FBC867D}" dt="2026-03-31T05:14:21.844" v="4200" actId="1076"/>
          <ac:spMkLst>
            <pc:docMk/>
            <pc:sldMk cId="4092224661" sldId="259"/>
            <ac:spMk id="10" creationId="{FBA7BF4A-5E70-3392-A856-0052DAF9CC37}"/>
          </ac:spMkLst>
        </pc:spChg>
        <pc:spChg chg="add mod">
          <ac:chgData name="Kim, Min Song" userId="f9a28cf1-6e73-4e9d-88c1-50ac1f7d8b99" providerId="ADAL" clId="{8AFFADCF-3461-4D14-9A04-29102FBC867D}" dt="2026-03-31T05:14:21.844" v="4200" actId="1076"/>
          <ac:spMkLst>
            <pc:docMk/>
            <pc:sldMk cId="4092224661" sldId="259"/>
            <ac:spMk id="11" creationId="{0EF9CF3E-BC52-6290-D3EB-6CD4A4CF6A71}"/>
          </ac:spMkLst>
        </pc:spChg>
        <pc:spChg chg="mod">
          <ac:chgData name="Kim, Min Song" userId="f9a28cf1-6e73-4e9d-88c1-50ac1f7d8b99" providerId="ADAL" clId="{8AFFADCF-3461-4D14-9A04-29102FBC867D}" dt="2026-03-31T05:14:52.413" v="4208"/>
          <ac:spMkLst>
            <pc:docMk/>
            <pc:sldMk cId="4092224661" sldId="259"/>
            <ac:spMk id="12" creationId="{10241ECF-070B-DAA0-A326-871B7DE63A50}"/>
          </ac:spMkLst>
        </pc:spChg>
        <pc:spChg chg="add mod">
          <ac:chgData name="Kim, Min Song" userId="f9a28cf1-6e73-4e9d-88c1-50ac1f7d8b99" providerId="ADAL" clId="{8AFFADCF-3461-4D14-9A04-29102FBC867D}" dt="2026-03-31T05:14:18.550" v="4199" actId="1076"/>
          <ac:spMkLst>
            <pc:docMk/>
            <pc:sldMk cId="4092224661" sldId="259"/>
            <ac:spMk id="13" creationId="{4E423328-B59B-F16D-71F1-907929D67532}"/>
          </ac:spMkLst>
        </pc:spChg>
        <pc:spChg chg="add mod">
          <ac:chgData name="Kim, Min Song" userId="f9a28cf1-6e73-4e9d-88c1-50ac1f7d8b99" providerId="ADAL" clId="{8AFFADCF-3461-4D14-9A04-29102FBC867D}" dt="2026-03-31T05:14:21.844" v="4200" actId="1076"/>
          <ac:spMkLst>
            <pc:docMk/>
            <pc:sldMk cId="4092224661" sldId="259"/>
            <ac:spMk id="14" creationId="{51A5AD4E-0E44-8226-00D8-74C8E233C25E}"/>
          </ac:spMkLst>
        </pc:spChg>
        <pc:spChg chg="add mod">
          <ac:chgData name="Kim, Min Song" userId="f9a28cf1-6e73-4e9d-88c1-50ac1f7d8b99" providerId="ADAL" clId="{8AFFADCF-3461-4D14-9A04-29102FBC867D}" dt="2026-03-31T05:53:02.815" v="4691" actId="14100"/>
          <ac:spMkLst>
            <pc:docMk/>
            <pc:sldMk cId="4092224661" sldId="259"/>
            <ac:spMk id="15" creationId="{A3E5D2A4-150C-96F0-3773-0ABF341265EF}"/>
          </ac:spMkLst>
        </pc:spChg>
      </pc:sldChg>
      <pc:sldChg chg="addSp delSp modSp mod">
        <pc:chgData name="Kim, Min Song" userId="f9a28cf1-6e73-4e9d-88c1-50ac1f7d8b99" providerId="ADAL" clId="{8AFFADCF-3461-4D14-9A04-29102FBC867D}" dt="2026-03-31T06:24:43.700" v="7169" actId="20578"/>
        <pc:sldMkLst>
          <pc:docMk/>
          <pc:sldMk cId="1053309987" sldId="260"/>
        </pc:sldMkLst>
        <pc:spChg chg="mod">
          <ac:chgData name="Kim, Min Song" userId="f9a28cf1-6e73-4e9d-88c1-50ac1f7d8b99" providerId="ADAL" clId="{8AFFADCF-3461-4D14-9A04-29102FBC867D}" dt="2026-03-31T05:14:27.390" v="4201" actId="1076"/>
          <ac:spMkLst>
            <pc:docMk/>
            <pc:sldMk cId="1053309987" sldId="260"/>
            <ac:spMk id="2" creationId="{793B72CD-5129-FA75-A1E5-39EDAAF9627E}"/>
          </ac:spMkLst>
        </pc:spChg>
        <pc:spChg chg="mod">
          <ac:chgData name="Kim, Min Song" userId="f9a28cf1-6e73-4e9d-88c1-50ac1f7d8b99" providerId="ADAL" clId="{8AFFADCF-3461-4D14-9A04-29102FBC867D}" dt="2026-03-31T05:14:27.390" v="4201" actId="1076"/>
          <ac:spMkLst>
            <pc:docMk/>
            <pc:sldMk cId="1053309987" sldId="260"/>
            <ac:spMk id="3" creationId="{BCCC866A-86AD-106B-666C-2A21832BA0CC}"/>
          </ac:spMkLst>
        </pc:spChg>
        <pc:spChg chg="mod">
          <ac:chgData name="Kim, Min Song" userId="f9a28cf1-6e73-4e9d-88c1-50ac1f7d8b99" providerId="ADAL" clId="{8AFFADCF-3461-4D14-9A04-29102FBC867D}" dt="2026-03-31T05:16:18.126" v="4279" actId="20577"/>
          <ac:spMkLst>
            <pc:docMk/>
            <pc:sldMk cId="1053309987" sldId="260"/>
            <ac:spMk id="8" creationId="{5782D39A-E5E9-15A9-006F-D13C40AE3662}"/>
          </ac:spMkLst>
        </pc:spChg>
        <pc:spChg chg="mod">
          <ac:chgData name="Kim, Min Song" userId="f9a28cf1-6e73-4e9d-88c1-50ac1f7d8b99" providerId="ADAL" clId="{8AFFADCF-3461-4D14-9A04-29102FBC867D}" dt="2026-03-31T05:14:27.390" v="4201" actId="1076"/>
          <ac:spMkLst>
            <pc:docMk/>
            <pc:sldMk cId="1053309987" sldId="260"/>
            <ac:spMk id="9" creationId="{4BEA7C3E-A88D-457B-763F-4127F442B0DD}"/>
          </ac:spMkLst>
        </pc:spChg>
        <pc:spChg chg="add mod">
          <ac:chgData name="Kim, Min Song" userId="f9a28cf1-6e73-4e9d-88c1-50ac1f7d8b99" providerId="ADAL" clId="{8AFFADCF-3461-4D14-9A04-29102FBC867D}" dt="2026-03-31T05:14:30.366" v="4202" actId="1076"/>
          <ac:spMkLst>
            <pc:docMk/>
            <pc:sldMk cId="1053309987" sldId="260"/>
            <ac:spMk id="10" creationId="{1DD5348A-253C-AB31-7D7A-AD1441B6CDF5}"/>
          </ac:spMkLst>
        </pc:spChg>
        <pc:spChg chg="add mod">
          <ac:chgData name="Kim, Min Song" userId="f9a28cf1-6e73-4e9d-88c1-50ac1f7d8b99" providerId="ADAL" clId="{8AFFADCF-3461-4D14-9A04-29102FBC867D}" dt="2026-03-30T08:04:04.033" v="0"/>
          <ac:spMkLst>
            <pc:docMk/>
            <pc:sldMk cId="1053309987" sldId="260"/>
            <ac:spMk id="10" creationId="{D18A7F99-9EAD-0C2E-E9EA-FFD6EAD50E33}"/>
          </ac:spMkLst>
        </pc:spChg>
        <pc:spChg chg="add del mod">
          <ac:chgData name="Kim, Min Song" userId="f9a28cf1-6e73-4e9d-88c1-50ac1f7d8b99" providerId="ADAL" clId="{8AFFADCF-3461-4D14-9A04-29102FBC867D}" dt="2026-03-31T01:55:45.375" v="540" actId="478"/>
          <ac:spMkLst>
            <pc:docMk/>
            <pc:sldMk cId="1053309987" sldId="260"/>
            <ac:spMk id="11" creationId="{4B6DFA4D-F214-5083-6811-B2D1F5111929}"/>
          </ac:spMkLst>
        </pc:spChg>
        <pc:spChg chg="mod">
          <ac:chgData name="Kim, Min Song" userId="f9a28cf1-6e73-4e9d-88c1-50ac1f7d8b99" providerId="ADAL" clId="{8AFFADCF-3461-4D14-9A04-29102FBC867D}" dt="2026-03-31T06:24:43.700" v="7169" actId="20578"/>
          <ac:spMkLst>
            <pc:docMk/>
            <pc:sldMk cId="1053309987" sldId="260"/>
            <ac:spMk id="12" creationId="{8B39B710-F7E6-0AD8-017B-EC51677CA52D}"/>
          </ac:spMkLst>
        </pc:spChg>
        <pc:spChg chg="add mod">
          <ac:chgData name="Kim, Min Song" userId="f9a28cf1-6e73-4e9d-88c1-50ac1f7d8b99" providerId="ADAL" clId="{8AFFADCF-3461-4D14-9A04-29102FBC867D}" dt="2026-03-31T05:14:30.366" v="4202" actId="1076"/>
          <ac:spMkLst>
            <pc:docMk/>
            <pc:sldMk cId="1053309987" sldId="260"/>
            <ac:spMk id="13" creationId="{F97675E1-A3B9-A20F-5AB6-839C4721B35D}"/>
          </ac:spMkLst>
        </pc:spChg>
        <pc:spChg chg="add del mod">
          <ac:chgData name="Kim, Min Song" userId="f9a28cf1-6e73-4e9d-88c1-50ac1f7d8b99" providerId="ADAL" clId="{8AFFADCF-3461-4D14-9A04-29102FBC867D}" dt="2026-03-31T01:26:41.109" v="538" actId="478"/>
          <ac:spMkLst>
            <pc:docMk/>
            <pc:sldMk cId="1053309987" sldId="260"/>
            <ac:spMk id="14" creationId="{0D4A9B16-5B7B-7B1F-5133-FEB68FE60FF4}"/>
          </ac:spMkLst>
        </pc:spChg>
        <pc:spChg chg="add del mod">
          <ac:chgData name="Kim, Min Song" userId="f9a28cf1-6e73-4e9d-88c1-50ac1f7d8b99" providerId="ADAL" clId="{8AFFADCF-3461-4D14-9A04-29102FBC867D}" dt="2026-03-31T02:08:56.589" v="2451" actId="478"/>
          <ac:spMkLst>
            <pc:docMk/>
            <pc:sldMk cId="1053309987" sldId="260"/>
            <ac:spMk id="15" creationId="{75B7CCF9-B069-EC4D-63AC-8B2CA5A4840B}"/>
          </ac:spMkLst>
        </pc:spChg>
        <pc:spChg chg="add mod">
          <ac:chgData name="Kim, Min Song" userId="f9a28cf1-6e73-4e9d-88c1-50ac1f7d8b99" providerId="ADAL" clId="{8AFFADCF-3461-4D14-9A04-29102FBC867D}" dt="2026-03-31T05:14:30.366" v="4202" actId="1076"/>
          <ac:spMkLst>
            <pc:docMk/>
            <pc:sldMk cId="1053309987" sldId="260"/>
            <ac:spMk id="16" creationId="{CF97927A-1908-7BB3-53E2-D24F427CE378}"/>
          </ac:spMkLst>
        </pc:spChg>
        <pc:spChg chg="add mod">
          <ac:chgData name="Kim, Min Song" userId="f9a28cf1-6e73-4e9d-88c1-50ac1f7d8b99" providerId="ADAL" clId="{8AFFADCF-3461-4D14-9A04-29102FBC867D}" dt="2026-03-31T05:14:27.390" v="4201" actId="1076"/>
          <ac:spMkLst>
            <pc:docMk/>
            <pc:sldMk cId="1053309987" sldId="260"/>
            <ac:spMk id="17" creationId="{8A5FC2A2-403F-5C39-0ECB-54FE7045D5BD}"/>
          </ac:spMkLst>
        </pc:spChg>
        <pc:spChg chg="add mod">
          <ac:chgData name="Kim, Min Song" userId="f9a28cf1-6e73-4e9d-88c1-50ac1f7d8b99" providerId="ADAL" clId="{8AFFADCF-3461-4D14-9A04-29102FBC867D}" dt="2026-03-31T05:14:30.366" v="4202" actId="1076"/>
          <ac:spMkLst>
            <pc:docMk/>
            <pc:sldMk cId="1053309987" sldId="260"/>
            <ac:spMk id="18" creationId="{522B2BDB-C3FA-DE10-71FF-E10AC8DD0CED}"/>
          </ac:spMkLst>
        </pc:spChg>
        <pc:spChg chg="add del mod">
          <ac:chgData name="Kim, Min Song" userId="f9a28cf1-6e73-4e9d-88c1-50ac1f7d8b99" providerId="ADAL" clId="{8AFFADCF-3461-4D14-9A04-29102FBC867D}" dt="2026-03-31T02:01:51.236" v="1582" actId="478"/>
          <ac:spMkLst>
            <pc:docMk/>
            <pc:sldMk cId="1053309987" sldId="260"/>
            <ac:spMk id="19" creationId="{319D08D6-B9AB-7416-C545-67C4E599597F}"/>
          </ac:spMkLst>
        </pc:spChg>
        <pc:spChg chg="add mod">
          <ac:chgData name="Kim, Min Song" userId="f9a28cf1-6e73-4e9d-88c1-50ac1f7d8b99" providerId="ADAL" clId="{8AFFADCF-3461-4D14-9A04-29102FBC867D}" dt="2026-03-31T05:58:39.477" v="4694" actId="1076"/>
          <ac:spMkLst>
            <pc:docMk/>
            <pc:sldMk cId="1053309987" sldId="260"/>
            <ac:spMk id="20" creationId="{5BFCEFEB-B62E-37B2-F8AE-03555F120C19}"/>
          </ac:spMkLst>
        </pc:spChg>
        <pc:spChg chg="add mod">
          <ac:chgData name="Kim, Min Song" userId="f9a28cf1-6e73-4e9d-88c1-50ac1f7d8b99" providerId="ADAL" clId="{8AFFADCF-3461-4D14-9A04-29102FBC867D}" dt="2026-03-31T05:14:30.366" v="4202" actId="1076"/>
          <ac:spMkLst>
            <pc:docMk/>
            <pc:sldMk cId="1053309987" sldId="260"/>
            <ac:spMk id="21" creationId="{8AA04393-1C1C-26FD-B9C2-81A35601D996}"/>
          </ac:spMkLst>
        </pc:spChg>
        <pc:spChg chg="add mod">
          <ac:chgData name="Kim, Min Song" userId="f9a28cf1-6e73-4e9d-88c1-50ac1f7d8b99" providerId="ADAL" clId="{8AFFADCF-3461-4D14-9A04-29102FBC867D}" dt="2026-03-31T05:58:39.477" v="4694" actId="1076"/>
          <ac:spMkLst>
            <pc:docMk/>
            <pc:sldMk cId="1053309987" sldId="260"/>
            <ac:spMk id="22" creationId="{94C5BF14-1603-ABEF-8BD4-D1FA7E7DC657}"/>
          </ac:spMkLst>
        </pc:spChg>
        <pc:spChg chg="add mod">
          <ac:chgData name="Kim, Min Song" userId="f9a28cf1-6e73-4e9d-88c1-50ac1f7d8b99" providerId="ADAL" clId="{8AFFADCF-3461-4D14-9A04-29102FBC867D}" dt="2026-03-31T05:14:30.366" v="4202" actId="1076"/>
          <ac:spMkLst>
            <pc:docMk/>
            <pc:sldMk cId="1053309987" sldId="260"/>
            <ac:spMk id="23" creationId="{8C11FD92-C66C-71E0-603B-018B51129EB4}"/>
          </ac:spMkLst>
        </pc:spChg>
        <pc:spChg chg="add mod">
          <ac:chgData name="Kim, Min Song" userId="f9a28cf1-6e73-4e9d-88c1-50ac1f7d8b99" providerId="ADAL" clId="{8AFFADCF-3461-4D14-9A04-29102FBC867D}" dt="2026-03-31T05:58:39.477" v="4694" actId="1076"/>
          <ac:spMkLst>
            <pc:docMk/>
            <pc:sldMk cId="1053309987" sldId="260"/>
            <ac:spMk id="24" creationId="{82E226BA-E7B9-70BF-8EDA-98D9FF799405}"/>
          </ac:spMkLst>
        </pc:spChg>
        <pc:spChg chg="add mod">
          <ac:chgData name="Kim, Min Song" userId="f9a28cf1-6e73-4e9d-88c1-50ac1f7d8b99" providerId="ADAL" clId="{8AFFADCF-3461-4D14-9A04-29102FBC867D}" dt="2026-03-31T05:14:27.390" v="4201" actId="1076"/>
          <ac:spMkLst>
            <pc:docMk/>
            <pc:sldMk cId="1053309987" sldId="260"/>
            <ac:spMk id="25" creationId="{336FBAA5-39C7-D904-0592-3B000F5D664C}"/>
          </ac:spMkLst>
        </pc:spChg>
        <pc:spChg chg="add mod">
          <ac:chgData name="Kim, Min Song" userId="f9a28cf1-6e73-4e9d-88c1-50ac1f7d8b99" providerId="ADAL" clId="{8AFFADCF-3461-4D14-9A04-29102FBC867D}" dt="2026-03-31T02:46:10.325" v="3391" actId="571"/>
          <ac:spMkLst>
            <pc:docMk/>
            <pc:sldMk cId="1053309987" sldId="260"/>
            <ac:spMk id="26" creationId="{464150F3-573E-6C76-F5B1-E919C8CAD0D8}"/>
          </ac:spMkLst>
        </pc:spChg>
        <pc:spChg chg="add mod">
          <ac:chgData name="Kim, Min Song" userId="f9a28cf1-6e73-4e9d-88c1-50ac1f7d8b99" providerId="ADAL" clId="{8AFFADCF-3461-4D14-9A04-29102FBC867D}" dt="2026-03-31T05:14:27.390" v="4201" actId="1076"/>
          <ac:spMkLst>
            <pc:docMk/>
            <pc:sldMk cId="1053309987" sldId="260"/>
            <ac:spMk id="27" creationId="{270A81B5-352E-3B79-58C0-95905A421AE0}"/>
          </ac:spMkLst>
        </pc:spChg>
        <pc:spChg chg="add mod">
          <ac:chgData name="Kim, Min Song" userId="f9a28cf1-6e73-4e9d-88c1-50ac1f7d8b99" providerId="ADAL" clId="{8AFFADCF-3461-4D14-9A04-29102FBC867D}" dt="2026-03-31T05:16:27.882" v="4300" actId="20577"/>
          <ac:spMkLst>
            <pc:docMk/>
            <pc:sldMk cId="1053309987" sldId="260"/>
            <ac:spMk id="28" creationId="{E37515C2-9757-CD16-5F88-B41D70CC2E83}"/>
          </ac:spMkLst>
        </pc:spChg>
        <pc:spChg chg="add mod">
          <ac:chgData name="Kim, Min Song" userId="f9a28cf1-6e73-4e9d-88c1-50ac1f7d8b99" providerId="ADAL" clId="{8AFFADCF-3461-4D14-9A04-29102FBC867D}" dt="2026-03-31T05:16:30.955" v="4301" actId="14100"/>
          <ac:spMkLst>
            <pc:docMk/>
            <pc:sldMk cId="1053309987" sldId="260"/>
            <ac:spMk id="29" creationId="{3D6FDF7B-FA71-A7EF-9AD2-D4254A4C3E1B}"/>
          </ac:spMkLst>
        </pc:spChg>
        <pc:spChg chg="add del mod">
          <ac:chgData name="Kim, Min Song" userId="f9a28cf1-6e73-4e9d-88c1-50ac1f7d8b99" providerId="ADAL" clId="{8AFFADCF-3461-4D14-9A04-29102FBC867D}" dt="2026-03-31T05:59:20.868" v="4699" actId="478"/>
          <ac:spMkLst>
            <pc:docMk/>
            <pc:sldMk cId="1053309987" sldId="260"/>
            <ac:spMk id="30" creationId="{A9ABDAFD-BE4F-C51F-A01F-A7B3F3AC54A1}"/>
          </ac:spMkLst>
        </pc:spChg>
        <pc:spChg chg="add mod">
          <ac:chgData name="Kim, Min Song" userId="f9a28cf1-6e73-4e9d-88c1-50ac1f7d8b99" providerId="ADAL" clId="{8AFFADCF-3461-4D14-9A04-29102FBC867D}" dt="2026-03-31T05:58:39.477" v="4694" actId="1076"/>
          <ac:spMkLst>
            <pc:docMk/>
            <pc:sldMk cId="1053309987" sldId="260"/>
            <ac:spMk id="31" creationId="{69A5A9D9-CB7E-8CDF-2CD0-4A0DF1DF86BE}"/>
          </ac:spMkLst>
        </pc:spChg>
      </pc:sldChg>
      <pc:sldChg chg="addSp delSp modSp mod">
        <pc:chgData name="Kim, Min Song" userId="f9a28cf1-6e73-4e9d-88c1-50ac1f7d8b99" providerId="ADAL" clId="{8AFFADCF-3461-4D14-9A04-29102FBC867D}" dt="2026-03-31T09:24:11.854" v="8375" actId="20577"/>
        <pc:sldMkLst>
          <pc:docMk/>
          <pc:sldMk cId="2627999066" sldId="261"/>
        </pc:sldMkLst>
        <pc:spChg chg="add del mod">
          <ac:chgData name="Kim, Min Song" userId="f9a28cf1-6e73-4e9d-88c1-50ac1f7d8b99" providerId="ADAL" clId="{8AFFADCF-3461-4D14-9A04-29102FBC867D}" dt="2026-03-31T02:02:38.626" v="1584" actId="21"/>
          <ac:spMkLst>
            <pc:docMk/>
            <pc:sldMk cId="2627999066" sldId="261"/>
            <ac:spMk id="2" creationId="{5BFCEFEB-B62E-37B2-F8AE-03555F120C19}"/>
          </ac:spMkLst>
        </pc:spChg>
        <pc:spChg chg="mod">
          <ac:chgData name="Kim, Min Song" userId="f9a28cf1-6e73-4e9d-88c1-50ac1f7d8b99" providerId="ADAL" clId="{8AFFADCF-3461-4D14-9A04-29102FBC867D}" dt="2026-03-31T09:24:11.854" v="8375" actId="20577"/>
          <ac:spMkLst>
            <pc:docMk/>
            <pc:sldMk cId="2627999066" sldId="261"/>
            <ac:spMk id="12" creationId="{5214A2C1-2D96-AB71-B126-D3C7F1CCA1E9}"/>
          </ac:spMkLst>
        </pc:spChg>
      </pc:sldChg>
      <pc:sldChg chg="addSp delSp modSp add mod">
        <pc:chgData name="Kim, Min Song" userId="f9a28cf1-6e73-4e9d-88c1-50ac1f7d8b99" providerId="ADAL" clId="{8AFFADCF-3461-4D14-9A04-29102FBC867D}" dt="2026-03-31T07:59:49.455" v="8203" actId="478"/>
        <pc:sldMkLst>
          <pc:docMk/>
          <pc:sldMk cId="2549559837" sldId="262"/>
        </pc:sldMkLst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3" creationId="{F6A3CAA2-2431-8FCF-4D2C-7E6D570CDA36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10" creationId="{130605D3-559C-A7BE-9AC9-B8972EC30A50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12" creationId="{1C028F90-C4B7-066B-E53A-EFEA9930E172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13" creationId="{DEEEBEFD-A948-CC39-47FC-E2C08D1D8F81}"/>
          </ac:spMkLst>
        </pc:spChg>
        <pc:spChg chg="add mod">
          <ac:chgData name="Kim, Min Song" userId="f9a28cf1-6e73-4e9d-88c1-50ac1f7d8b99" providerId="ADAL" clId="{8AFFADCF-3461-4D14-9A04-29102FBC867D}" dt="2026-03-31T07:57:50.128" v="8200" actId="1076"/>
          <ac:spMkLst>
            <pc:docMk/>
            <pc:sldMk cId="2549559837" sldId="262"/>
            <ac:spMk id="14" creationId="{7E35571B-5DDA-344B-EDFF-5645BD1E2DAE}"/>
          </ac:spMkLst>
        </pc:spChg>
        <pc:spChg chg="add del mod">
          <ac:chgData name="Kim, Min Song" userId="f9a28cf1-6e73-4e9d-88c1-50ac1f7d8b99" providerId="ADAL" clId="{8AFFADCF-3461-4D14-9A04-29102FBC867D}" dt="2026-03-31T07:59:49.455" v="8203" actId="478"/>
          <ac:spMkLst>
            <pc:docMk/>
            <pc:sldMk cId="2549559837" sldId="262"/>
            <ac:spMk id="15" creationId="{DF1B56E3-27F9-55DC-0F2C-8C0D521E4F04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17" creationId="{0FD9883C-E65A-F78A-206F-30ED3C21BC1D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18" creationId="{D2609C40-72E2-6D77-0753-804351F9BC9B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21" creationId="{B860BC40-5571-D15F-CD61-5CD9378949D9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23" creationId="{6C237258-EE6F-370D-E623-851A29EB4758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25" creationId="{266154D5-9421-D9A1-5C43-453F7C6D75D3}"/>
          </ac:spMkLst>
        </pc:spChg>
        <pc:spChg chg="del">
          <ac:chgData name="Kim, Min Song" userId="f9a28cf1-6e73-4e9d-88c1-50ac1f7d8b99" providerId="ADAL" clId="{8AFFADCF-3461-4D14-9A04-29102FBC867D}" dt="2026-03-31T05:59:02.539" v="4696" actId="478"/>
          <ac:spMkLst>
            <pc:docMk/>
            <pc:sldMk cId="2549559837" sldId="262"/>
            <ac:spMk id="27" creationId="{3911EA62-7EBD-10C0-29C3-9BC6BB4ADC75}"/>
          </ac:spMkLst>
        </pc:spChg>
        <pc:spChg chg="mod">
          <ac:chgData name="Kim, Min Song" userId="f9a28cf1-6e73-4e9d-88c1-50ac1f7d8b99" providerId="ADAL" clId="{8AFFADCF-3461-4D14-9A04-29102FBC867D}" dt="2026-03-31T06:51:35.013" v="8198" actId="14100"/>
          <ac:spMkLst>
            <pc:docMk/>
            <pc:sldMk cId="2549559837" sldId="262"/>
            <ac:spMk id="30" creationId="{472C6AB7-EBC1-071F-9CCD-7424CB481576}"/>
          </ac:spMkLst>
        </pc:spChg>
        <pc:graphicFrameChg chg="add mod modGraphic">
          <ac:chgData name="Kim, Min Song" userId="f9a28cf1-6e73-4e9d-88c1-50ac1f7d8b99" providerId="ADAL" clId="{8AFFADCF-3461-4D14-9A04-29102FBC867D}" dt="2026-03-31T06:50:44.317" v="8181" actId="20577"/>
          <ac:graphicFrameMkLst>
            <pc:docMk/>
            <pc:sldMk cId="2549559837" sldId="262"/>
            <ac:graphicFrameMk id="11" creationId="{9DF22E4D-52A9-E3D4-6C86-17A13A9FFB72}"/>
          </ac:graphicFrameMkLst>
        </pc:graphicFrameChg>
      </pc:sldChg>
    </pc:docChg>
  </pc:docChgLst>
  <pc:docChgLst>
    <pc:chgData name="Suh, Ju Hyun" userId="ed30e9e9-73ea-4ac2-9151-83d80ccf591b" providerId="ADAL" clId="{05EE7BA4-F28F-4B82-9476-C69F5AB1DB45}"/>
    <pc:docChg chg="custSel modSld">
      <pc:chgData name="Suh, Ju Hyun" userId="ed30e9e9-73ea-4ac2-9151-83d80ccf591b" providerId="ADAL" clId="{05EE7BA4-F28F-4B82-9476-C69F5AB1DB45}" dt="2026-03-30T15:56:30.277" v="800" actId="20577"/>
      <pc:docMkLst>
        <pc:docMk/>
      </pc:docMkLst>
      <pc:sldChg chg="modSp mod">
        <pc:chgData name="Suh, Ju Hyun" userId="ed30e9e9-73ea-4ac2-9151-83d80ccf591b" providerId="ADAL" clId="{05EE7BA4-F28F-4B82-9476-C69F5AB1DB45}" dt="2026-03-30T15:56:30.277" v="800" actId="20577"/>
        <pc:sldMkLst>
          <pc:docMk/>
          <pc:sldMk cId="4092224661" sldId="259"/>
        </pc:sldMkLst>
        <pc:spChg chg="mod">
          <ac:chgData name="Suh, Ju Hyun" userId="ed30e9e9-73ea-4ac2-9151-83d80ccf591b" providerId="ADAL" clId="{05EE7BA4-F28F-4B82-9476-C69F5AB1DB45}" dt="2026-03-30T15:56:30.277" v="800" actId="20577"/>
          <ac:spMkLst>
            <pc:docMk/>
            <pc:sldMk cId="4092224661" sldId="259"/>
            <ac:spMk id="12" creationId="{10241ECF-070B-DAA0-A326-871B7DE63A50}"/>
          </ac:spMkLst>
        </pc:spChg>
      </pc:sldChg>
      <pc:sldChg chg="modSp mod">
        <pc:chgData name="Suh, Ju Hyun" userId="ed30e9e9-73ea-4ac2-9151-83d80ccf591b" providerId="ADAL" clId="{05EE7BA4-F28F-4B82-9476-C69F5AB1DB45}" dt="2026-03-30T15:53:45.987" v="799" actId="20577"/>
        <pc:sldMkLst>
          <pc:docMk/>
          <pc:sldMk cId="1053309987" sldId="260"/>
        </pc:sldMkLst>
        <pc:spChg chg="mod">
          <ac:chgData name="Suh, Ju Hyun" userId="ed30e9e9-73ea-4ac2-9151-83d80ccf591b" providerId="ADAL" clId="{05EE7BA4-F28F-4B82-9476-C69F5AB1DB45}" dt="2026-03-30T15:53:45.987" v="799" actId="20577"/>
          <ac:spMkLst>
            <pc:docMk/>
            <pc:sldMk cId="1053309987" sldId="260"/>
            <ac:spMk id="12" creationId="{8B39B710-F7E6-0AD8-017B-EC51677CA52D}"/>
          </ac:spMkLst>
        </pc:spChg>
      </pc:sldChg>
      <pc:sldChg chg="modSp mod">
        <pc:chgData name="Suh, Ju Hyun" userId="ed30e9e9-73ea-4ac2-9151-83d80ccf591b" providerId="ADAL" clId="{05EE7BA4-F28F-4B82-9476-C69F5AB1DB45}" dt="2026-03-30T06:23:55.643" v="268" actId="6549"/>
        <pc:sldMkLst>
          <pc:docMk/>
          <pc:sldMk cId="2627999066" sldId="261"/>
        </pc:sldMkLst>
        <pc:spChg chg="mod">
          <ac:chgData name="Suh, Ju Hyun" userId="ed30e9e9-73ea-4ac2-9151-83d80ccf591b" providerId="ADAL" clId="{05EE7BA4-F28F-4B82-9476-C69F5AB1DB45}" dt="2026-03-30T06:23:55.643" v="268" actId="6549"/>
          <ac:spMkLst>
            <pc:docMk/>
            <pc:sldMk cId="2627999066" sldId="261"/>
            <ac:spMk id="12" creationId="{5214A2C1-2D96-AB71-B126-D3C7F1CCA1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CAB82-910C-4F1A-BE29-9A7C1CBDBED6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88F50-5C18-4223-96C4-C60F3FFF2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4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C72B-CE6F-9C88-911B-3F60C169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A046DD-3BA2-CF8E-F485-4BC9F1BDE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7493C8-76D9-2B25-146F-DAECE937E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D552E-5F7D-563D-DFAD-C444EA6B5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88F50-5C18-4223-96C4-C60F3FFF2BB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244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91806-4D60-A922-DDB2-A13D670B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87E3D2-3000-5D77-E6BF-958820022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09FAEE-F0FC-988E-C158-CFC3E58B6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50DB59-A644-92C3-3BF5-B9783D397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88F50-5C18-4223-96C4-C60F3FFF2BB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340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09DFA-11DB-6375-58BF-4B52DDBF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AC86A1-B20C-E3B3-F5F4-60BD5D1AF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4988FC-D706-0A9D-61DC-68E9B12E8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02A060-AFB4-4D99-1BF3-626F2329E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88F50-5C18-4223-96C4-C60F3FFF2BB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331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0D4FB-01AF-06E9-A4F0-143F5EB0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413462-52C0-018D-7005-621E3BF90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E31B84-D39C-5E8F-A30B-9444CC34F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5B408-A1F8-9FCE-2049-9BBEF840F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88F50-5C18-4223-96C4-C60F3FFF2BB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816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4AF7-5D8C-E926-7C83-8E409F26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D413B5-06C1-BA12-A09A-22555C07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EDE0C1-B363-A35C-C929-76C1456CD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A37285-2C74-1EA6-A2E7-14147D305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88F50-5C18-4223-96C4-C60F3FFF2BB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26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3685593"/>
            <a:ext cx="4490721" cy="23966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="0" baseline="0">
                <a:solidFill>
                  <a:schemeClr val="accent3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200" b="1" baseline="0">
                <a:solidFill>
                  <a:schemeClr val="tx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ko-KR" altLang="en-US" noProof="0"/>
              <a:t>그림을 추가하려면 아이콘을 클릭하십시오</a:t>
            </a:r>
            <a:endParaRPr lang="en-US" noProof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0AE10D9F-D168-A862-DA84-574F11D0E2FC}"/>
              </a:ext>
            </a:extLst>
          </p:cNvPr>
          <p:cNvGrpSpPr>
            <a:grpSpLocks noChangeAspect="1"/>
          </p:cNvGrpSpPr>
          <p:nvPr/>
        </p:nvGrpSpPr>
        <p:grpSpPr>
          <a:xfrm>
            <a:off x="458955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44CBE796-5FC0-E423-16A1-DED0AE56D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05F4CE5-D10C-368B-764B-BE5DDD8C10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2B55AB8F-F80C-19EB-DE5A-8549EB062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65E41BE-2ED0-AF4B-DF02-80167B390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A3B1E04E-4F3D-05D8-198A-E56F73828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18AB0503-5A25-EA1A-CCDA-5739B389D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078E8A5-D83D-7CB8-FB4B-E529707C1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72DBAD7-765D-9E17-A482-B90F9011D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7957C86-A850-1151-B037-B89403C071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CFF774E-2F8B-204A-8BF8-AB13C285B7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29591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 baseline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 baseline="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날짜 개체 틀 4">
            <a:extLst>
              <a:ext uri="{FF2B5EF4-FFF2-40B4-BE49-F238E27FC236}">
                <a16:creationId xmlns:a16="http://schemas.microsoft.com/office/drawing/2014/main" id="{A627867D-D0CC-6335-83BB-E03C92926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AD01DAAC-57C1-A0F2-A2CA-9571DF5DB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67F72B4E-B1DC-FF46-4A57-D02E735D8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217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3769567"/>
            <a:ext cx="4490721" cy="23126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100000"/>
              </a:lnSpc>
              <a:defRPr lang="en-US" sz="3600" b="0" noProof="0" dirty="0">
                <a:solidFill>
                  <a:schemeClr val="accent3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ko-KR" altLang="en-US" noProof="0"/>
              <a:t>그림을 추가하려면 아이콘을 클릭하십시오</a:t>
            </a:r>
            <a:endParaRPr lang="en-US" noProof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7B4610A1-FE92-9620-EE17-59E7043EE62B}"/>
              </a:ext>
            </a:extLst>
          </p:cNvPr>
          <p:cNvGrpSpPr>
            <a:grpSpLocks noChangeAspect="1"/>
          </p:cNvGrpSpPr>
          <p:nvPr/>
        </p:nvGrpSpPr>
        <p:grpSpPr>
          <a:xfrm>
            <a:off x="458955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E5836D7C-D2D1-B476-F4F7-4F040F3B1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6898239-3367-CD5B-F08E-ABB69FF100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46083DD4-63E5-3E8A-AF8B-B2681775D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3E0A1C3-7A29-0423-3B6F-4493F43527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2328D643-42CB-1ED7-6DF5-EF8D95A5C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7A54147C-9FE7-7707-37D7-7C4868206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9704F6F-EDB2-A694-9B08-3AD6E286C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1379585-A8E7-0483-21F4-D373F9B34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AB00B02-7320-683F-D38B-BB4D1E6668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F7A3459-73B5-2C6E-6811-184469615B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81335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3750907"/>
            <a:ext cx="4490721" cy="233128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100000"/>
              </a:lnSpc>
              <a:defRPr lang="en-US" sz="3600" b="0" noProof="0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ko-KR" altLang="en-US" noProof="0"/>
              <a:t>그림을 추가하려면 아이콘을 클릭하십시오</a:t>
            </a:r>
            <a:endParaRPr lang="en-US" noProof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05CBEB57-6D12-C164-15C9-BFBFC79A2FE3}"/>
              </a:ext>
            </a:extLst>
          </p:cNvPr>
          <p:cNvGrpSpPr/>
          <p:nvPr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7DC99352-1946-9240-5F41-C2B430B53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74FA36-1C6F-7AF2-5F3B-DABFFD040F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2037B59-BE12-2C46-CAE0-7373A6575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A3264C-FF24-146A-5730-507621D5DE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433C11B-CE4C-2D9B-2B6B-389CD4EFF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BCEFDAA4-28D8-98FF-F771-D1FA225AE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C1FC899-4915-CF36-6D22-C1E629F72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0F6181B-47DE-8EC3-6D41-24675A5B1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01E0EA5-1EF9-19DB-4C2D-F72E3857F1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A0C4BD9-6E33-72A8-4082-0783F83B6A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636380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3809555"/>
            <a:ext cx="4490721" cy="227263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100000"/>
              </a:lnSpc>
              <a:defRPr lang="en-US" sz="3600" b="0" noProof="0" dirty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ko-KR" altLang="en-US" noProof="0"/>
              <a:t>그림을 추가하려면 아이콘을 클릭하십시오</a:t>
            </a:r>
            <a:endParaRPr lang="en-US" noProof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9FAC0912-2D3F-352B-1A68-1705963862A7}"/>
              </a:ext>
            </a:extLst>
          </p:cNvPr>
          <p:cNvGrpSpPr/>
          <p:nvPr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702B15F8-4406-B485-FB96-904F78886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E1C100-2CB0-9BE0-3AEE-42E92039BE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CEB0E5A2-0C8E-1CD1-8A31-D9FC386DF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CF6CC71-4884-0FD1-0246-4C088D934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49E0EA8B-252D-2C79-E4E3-3F849DE50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5F3C9DA1-691C-59E9-7BB3-07981762F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185CFE4-C7B3-3090-273B-E8B6D3B87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3E33FAE-7E4B-388F-1501-27AB55B83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0FF1427-019A-C74E-07D2-4C706B2773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3AF9C66-6719-4974-EEB6-065F516BC9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58952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noProof="0"/>
              <a:t>그림을 추가하려면 아이콘을 클릭하십시오</a:t>
            </a:r>
            <a:endParaRPr lang="en-US" noProof="0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585122-38AC-D71C-D33A-F55F622B6FB1}"/>
              </a:ext>
            </a:extLst>
          </p:cNvPr>
          <p:cNvSpPr txBox="1">
            <a:spLocks/>
          </p:cNvSpPr>
          <p:nvPr/>
        </p:nvSpPr>
        <p:spPr bwMode="gray">
          <a:xfrm>
            <a:off x="457201" y="3750907"/>
            <a:ext cx="4490721" cy="233128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6858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3600" b="1" kern="1200" baseline="0" noProof="0" dirty="0">
                <a:solidFill>
                  <a:schemeClr val="accent1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it-IT" b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4108534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365848"/>
            <a:ext cx="4608000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ko-KR" altLang="en-US" noProof="0"/>
              <a:t>그림을 추가하려면 아이콘을 클릭하십시오</a:t>
            </a:r>
            <a:endParaRPr lang="en-US" noProof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7657C6-40C6-F6CF-4B70-6C3A7D014946}"/>
              </a:ext>
            </a:extLst>
          </p:cNvPr>
          <p:cNvGrpSpPr/>
          <p:nvPr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" name="Oval 5">
              <a:extLst>
                <a:ext uri="{FF2B5EF4-FFF2-40B4-BE49-F238E27FC236}">
                  <a16:creationId xmlns:a16="http://schemas.microsoft.com/office/drawing/2014/main" id="{9801DAF1-D5EE-530E-DFC3-4336973F0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31BEE40-DA0F-5F2E-3692-E5299074D6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CF1B8E2E-507A-FF79-D42D-35F5CFA0A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AF81A1CA-6543-33F7-8692-F57A5F664E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7778944C-3AF1-6572-F15B-8CFCD73EA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4C298C8C-ACE2-A6CE-FD55-D40B3591B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AD3D65C1-1E86-C9C6-EE95-D150FCD0F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9E21DBE-B360-139F-839C-8529040F5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FB86D21A-D6F3-55FE-1389-07D41E5EA0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239CE4F1-BAD8-FD0C-633A-CC7E0C3DD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D646566A-AC2B-0F6A-8C93-C3E8B27F1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2292681"/>
            <a:ext cx="4490721" cy="227263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defRPr lang="en-US" sz="3600" b="0" noProof="0" dirty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46651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64737BF6-CD91-55EC-B1D3-52125C2FA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"/>
            <a:ext cx="12190476" cy="6857143"/>
          </a:xfrm>
          <a:prstGeom prst="rect">
            <a:avLst/>
          </a:prstGeom>
        </p:spPr>
      </p:pic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25" imgH="425" progId="TCLayout.ActiveDocument.1">
                  <p:embed/>
                </p:oleObj>
              </mc:Choice>
              <mc:Fallback>
                <p:oleObj name="think-cell 슬라이드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 baseline="0">
                <a:solidFill>
                  <a:schemeClr val="bg1"/>
                </a:solidFill>
                <a:latin typeface="+mj-lt"/>
                <a:ea typeface="+mj-ea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43066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25" imgH="425" progId="TCLayout.ActiveDocument.1">
                  <p:embed/>
                </p:oleObj>
              </mc:Choice>
              <mc:Fallback>
                <p:oleObj name="think-cell 슬라이드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vert="horz" lIns="0" tIns="0" rIns="0" bIns="0" rtlCol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lang="en-US" sz="3600" b="1" baseline="0" noProof="0" dirty="0">
                <a:solidFill>
                  <a:schemeClr val="bg1"/>
                </a:solidFill>
                <a:latin typeface="+mj-lt"/>
                <a:ea typeface="+mj-ea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ctr">
              <a:lnSpc>
                <a:spcPct val="95000"/>
              </a:lnSpc>
              <a:spcAft>
                <a:spcPts val="0"/>
              </a:spcAft>
            </a:pPr>
            <a:r>
              <a:rPr lang="en-US" noProof="0"/>
              <a:t>Click to add text</a:t>
            </a:r>
          </a:p>
        </p:txBody>
      </p:sp>
      <p:pic>
        <p:nvPicPr>
          <p:cNvPr id="6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8F109B73-F02F-1033-28A8-646E55994B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0153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 baseline="0">
                <a:solidFill>
                  <a:schemeClr val="accent4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9379258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tx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520926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accent4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6508390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bg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1935386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bg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1257989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tx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3980868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bg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14407320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noProof="0"/>
              <a:t>그림을 추가하려면 아이콘을 클릭하십시오</a:t>
            </a:r>
            <a:endParaRPr lang="en-US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tx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3107033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093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E4FB1F-7D5F-D9E5-B9C1-7BEED46EC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7" name="바닥글 개체 틀 5">
            <a:extLst>
              <a:ext uri="{FF2B5EF4-FFF2-40B4-BE49-F238E27FC236}">
                <a16:creationId xmlns:a16="http://schemas.microsoft.com/office/drawing/2014/main" id="{BC273DB2-C382-45A0-6B7C-AFD025AB4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DA6E0661-26C0-049B-E38C-639D09F6D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2092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757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294A53-933D-F657-F5B3-186FA63613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4" name="날짜 개체 틀 4">
            <a:extLst>
              <a:ext uri="{FF2B5EF4-FFF2-40B4-BE49-F238E27FC236}">
                <a16:creationId xmlns:a16="http://schemas.microsoft.com/office/drawing/2014/main" id="{9A78E699-763D-ED9D-8975-19ECC9121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0" name="바닥글 개체 틀 5">
            <a:extLst>
              <a:ext uri="{FF2B5EF4-FFF2-40B4-BE49-F238E27FC236}">
                <a16:creationId xmlns:a16="http://schemas.microsoft.com/office/drawing/2014/main" id="{2D21F9B9-4524-B17E-F00D-85A1F1815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1" name="슬라이드 번호 개체 틀 6">
            <a:extLst>
              <a:ext uri="{FF2B5EF4-FFF2-40B4-BE49-F238E27FC236}">
                <a16:creationId xmlns:a16="http://schemas.microsoft.com/office/drawing/2014/main" id="{98E2B3EF-4ACF-66E1-1938-C44F742DD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613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1169" y="1678966"/>
            <a:ext cx="5486400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177D062-A16A-0B81-6184-AFB65CA934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B985A43D-C972-E096-FAAF-8B14EF68F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9" name="바닥글 개체 틀 5">
            <a:extLst>
              <a:ext uri="{FF2B5EF4-FFF2-40B4-BE49-F238E27FC236}">
                <a16:creationId xmlns:a16="http://schemas.microsoft.com/office/drawing/2014/main" id="{0B7C5F9E-E36C-41B0-4705-D9ACA30D0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F81914A7-ED89-7082-0709-E15045915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5953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8BE229D-004D-FD02-F001-0D2E14634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3" name="날짜 개체 틀 4">
            <a:extLst>
              <a:ext uri="{FF2B5EF4-FFF2-40B4-BE49-F238E27FC236}">
                <a16:creationId xmlns:a16="http://schemas.microsoft.com/office/drawing/2014/main" id="{20546BAF-862C-F1E9-CC5D-7C5BD30B0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id="{518839BC-717E-E86E-D779-C7CAE34A0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CB36D509-41A3-C4B9-6F1F-F2AF44438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0070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7D4B389-7327-8A2D-8E40-834A0B7B80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F7CD1E4C-21A0-48FD-BAC5-DBB317595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3" name="바닥글 개체 틀 5">
            <a:extLst>
              <a:ext uri="{FF2B5EF4-FFF2-40B4-BE49-F238E27FC236}">
                <a16:creationId xmlns:a16="http://schemas.microsoft.com/office/drawing/2014/main" id="{54352B1D-3849-B262-4FD7-8118CCD31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4" name="슬라이드 번호 개체 틀 6">
            <a:extLst>
              <a:ext uri="{FF2B5EF4-FFF2-40B4-BE49-F238E27FC236}">
                <a16:creationId xmlns:a16="http://schemas.microsoft.com/office/drawing/2014/main" id="{40340093-BF20-E0D7-4841-CFB670B37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6562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lang="en-US" noProof="0" dirty="0"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lang="en-US" noProof="0" dirty="0">
                <a:latin typeface="+mn-lt"/>
                <a:ea typeface="+mn-ea"/>
              </a:defRPr>
            </a:lvl2pPr>
            <a:lvl3pPr marL="365760">
              <a:defRPr lang="en-US" noProof="0" dirty="0">
                <a:latin typeface="+mn-lt"/>
                <a:ea typeface="+mn-ea"/>
              </a:defRPr>
            </a:lvl3pPr>
            <a:lvl4pPr marL="548640" indent="-182880">
              <a:defRPr lang="en-US" noProof="0" dirty="0">
                <a:latin typeface="+mn-lt"/>
                <a:ea typeface="+mn-ea"/>
              </a:defRPr>
            </a:lvl4pPr>
            <a:lvl5pPr marL="731520"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lang="en-US" noProof="0" dirty="0"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lang="en-US" noProof="0" dirty="0">
                <a:latin typeface="+mn-lt"/>
                <a:ea typeface="+mn-ea"/>
              </a:defRPr>
            </a:lvl2pPr>
            <a:lvl3pPr marL="365760">
              <a:defRPr lang="en-US" noProof="0" dirty="0">
                <a:latin typeface="+mn-lt"/>
                <a:ea typeface="+mn-ea"/>
              </a:defRPr>
            </a:lvl3pPr>
            <a:lvl4pPr marL="548640" indent="-182880">
              <a:defRPr lang="en-US" noProof="0" dirty="0">
                <a:latin typeface="+mn-lt"/>
                <a:ea typeface="+mn-ea"/>
              </a:defRPr>
            </a:lvl4pPr>
            <a:lvl5pPr marL="731520"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latin typeface="+mn-lt"/>
                <a:ea typeface="+mn-ea"/>
              </a:defRPr>
            </a:lvl1pPr>
            <a:lvl2pPr>
              <a:defRPr lang="en-US" noProof="0" dirty="0">
                <a:latin typeface="+mn-lt"/>
                <a:ea typeface="+mn-ea"/>
              </a:defRPr>
            </a:lvl2pPr>
            <a:lvl3pPr>
              <a:defRPr lang="en-US" noProof="0" dirty="0">
                <a:latin typeface="+mn-lt"/>
                <a:ea typeface="+mn-ea"/>
              </a:defRPr>
            </a:lvl3pPr>
            <a:lvl4pPr>
              <a:defRPr lang="en-US" noProof="0" dirty="0">
                <a:latin typeface="+mn-lt"/>
                <a:ea typeface="+mn-ea"/>
              </a:defRPr>
            </a:lvl4pPr>
            <a:lvl5pPr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latin typeface="+mn-lt"/>
                <a:ea typeface="+mn-ea"/>
              </a:defRPr>
            </a:lvl1pPr>
            <a:lvl2pPr>
              <a:defRPr lang="en-US" noProof="0" dirty="0">
                <a:latin typeface="+mn-lt"/>
                <a:ea typeface="+mn-ea"/>
              </a:defRPr>
            </a:lvl2pPr>
            <a:lvl3pPr>
              <a:defRPr lang="en-US" noProof="0" dirty="0">
                <a:latin typeface="+mn-lt"/>
                <a:ea typeface="+mn-ea"/>
              </a:defRPr>
            </a:lvl3pPr>
            <a:lvl4pPr>
              <a:defRPr lang="en-US" noProof="0" dirty="0">
                <a:latin typeface="+mn-lt"/>
                <a:ea typeface="+mn-ea"/>
              </a:defRPr>
            </a:lvl4pPr>
            <a:lvl5pPr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2770CD3-843A-0FBA-6134-751E93C64A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6BD2A775-A9DB-DF5C-C6E3-544BA717B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4" name="바닥글 개체 틀 5">
            <a:extLst>
              <a:ext uri="{FF2B5EF4-FFF2-40B4-BE49-F238E27FC236}">
                <a16:creationId xmlns:a16="http://schemas.microsoft.com/office/drawing/2014/main" id="{DE1B2E9D-D647-9428-8AF6-94C96E250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CE4AE92-6430-5FE4-77BE-BE5CE6421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2703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028950"/>
            <a:ext cx="8566108" cy="3330716"/>
          </a:xfr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lang="en-US" sz="900" baseline="0" dirty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>
              <a:spcAft>
                <a:spcPts val="450"/>
              </a:spcAft>
            </a:pPr>
            <a:r>
              <a:rPr lang="en-US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07C35-870E-BE5C-3063-D65F3CF3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6F65-0FAE-13C5-4935-4F5D23290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6E6765-2EE8-0134-6860-09DC9EB0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grpSp>
        <p:nvGrpSpPr>
          <p:cNvPr id="7" name="Group 1">
            <a:extLst>
              <a:ext uri="{FF2B5EF4-FFF2-40B4-BE49-F238E27FC236}">
                <a16:creationId xmlns:a16="http://schemas.microsoft.com/office/drawing/2014/main" id="{20F7107B-18FD-F91E-8D14-A84BFFD7DDB4}"/>
              </a:ext>
            </a:extLst>
          </p:cNvPr>
          <p:cNvGrpSpPr>
            <a:grpSpLocks noChangeAspect="1"/>
          </p:cNvGrpSpPr>
          <p:nvPr/>
        </p:nvGrpSpPr>
        <p:grpSpPr>
          <a:xfrm>
            <a:off x="458955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94306471-D510-4E5E-4ABE-1C0F4C119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CB56EA4-0272-4EAA-3002-3C9F553554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5FEFC1D3-28A6-2744-F88B-0C3678BFC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3D93CD6-0DA0-0C46-5B8C-B5AE56FCF7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A07DB94D-AB8D-69C4-B55A-5F9A56617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6EC929BB-5806-79B6-F5AE-C160A92C7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746A4736-E04E-2622-83C4-02933A591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D2D7BCF-1014-19E2-3DA7-FC5D80EC3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3E626DBB-F045-C19B-1A38-62CC3BEA34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A770BEF9-3E47-530E-9D2D-798EF73695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75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 baseline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E28A867-BA16-A6CF-14E0-CF10C9150E7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날짜 개체 틀 4">
            <a:extLst>
              <a:ext uri="{FF2B5EF4-FFF2-40B4-BE49-F238E27FC236}">
                <a16:creationId xmlns:a16="http://schemas.microsoft.com/office/drawing/2014/main" id="{8B977873-415D-0B6C-4E94-C972C8290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0" name="바닥글 개체 틀 5">
            <a:extLst>
              <a:ext uri="{FF2B5EF4-FFF2-40B4-BE49-F238E27FC236}">
                <a16:creationId xmlns:a16="http://schemas.microsoft.com/office/drawing/2014/main" id="{3275D537-1368-B5C7-64A3-15F48B280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1" name="슬라이드 번호 개체 틀 6">
            <a:extLst>
              <a:ext uri="{FF2B5EF4-FFF2-40B4-BE49-F238E27FC236}">
                <a16:creationId xmlns:a16="http://schemas.microsoft.com/office/drawing/2014/main" id="{199221C8-DE6B-967C-3805-025D37631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2747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3382D65-E8F1-2720-A9FC-26DCBA106D12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날짜 개체 틀 4">
            <a:extLst>
              <a:ext uri="{FF2B5EF4-FFF2-40B4-BE49-F238E27FC236}">
                <a16:creationId xmlns:a16="http://schemas.microsoft.com/office/drawing/2014/main" id="{2C0A22D9-44AD-3D03-AADA-03B6A359F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id="{C8132120-627F-0306-7E91-8AB829303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A9B8FB14-6C10-7C07-CF15-4146EB32A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8463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F1922E-2FD5-F621-B45A-34CE8802F80E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8" name="날짜 개체 틀 4">
            <a:extLst>
              <a:ext uri="{FF2B5EF4-FFF2-40B4-BE49-F238E27FC236}">
                <a16:creationId xmlns:a16="http://schemas.microsoft.com/office/drawing/2014/main" id="{E8179AE6-8475-0593-9013-97C31CF50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2" name="바닥글 개체 틀 5">
            <a:extLst>
              <a:ext uri="{FF2B5EF4-FFF2-40B4-BE49-F238E27FC236}">
                <a16:creationId xmlns:a16="http://schemas.microsoft.com/office/drawing/2014/main" id="{6F938C0C-6CB2-91B5-2695-53A07D49B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3" name="슬라이드 번호 개체 틀 6">
            <a:extLst>
              <a:ext uri="{FF2B5EF4-FFF2-40B4-BE49-F238E27FC236}">
                <a16:creationId xmlns:a16="http://schemas.microsoft.com/office/drawing/2014/main" id="{18611D70-8CAB-2E0E-6062-5DCD18BF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6593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F43D0A-2D16-64CD-966C-B8C8E91F533B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날짜 개체 틀 4">
            <a:extLst>
              <a:ext uri="{FF2B5EF4-FFF2-40B4-BE49-F238E27FC236}">
                <a16:creationId xmlns:a16="http://schemas.microsoft.com/office/drawing/2014/main" id="{08B5EEFB-A201-44E4-B797-B726F4239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id="{C646FA20-ADBC-27CC-6FB3-82FEE974D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E1AC3D4C-A881-A39A-6FF5-F852682FF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4143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947F5D1-4369-E803-AAB5-939B31C9317E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2" name="날짜 개체 틀 4">
            <a:extLst>
              <a:ext uri="{FF2B5EF4-FFF2-40B4-BE49-F238E27FC236}">
                <a16:creationId xmlns:a16="http://schemas.microsoft.com/office/drawing/2014/main" id="{C722108F-7689-F60D-797D-0B478DE9D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3" name="바닥글 개체 틀 5">
            <a:extLst>
              <a:ext uri="{FF2B5EF4-FFF2-40B4-BE49-F238E27FC236}">
                <a16:creationId xmlns:a16="http://schemas.microsoft.com/office/drawing/2014/main" id="{9A73653A-0518-6CB5-8B6E-0FEE49EFB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4" name="슬라이드 번호 개체 틀 6">
            <a:extLst>
              <a:ext uri="{FF2B5EF4-FFF2-40B4-BE49-F238E27FC236}">
                <a16:creationId xmlns:a16="http://schemas.microsoft.com/office/drawing/2014/main" id="{783440B7-5284-C566-C416-74E886F55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2329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lang="en-US" sz="1100" noProof="0" dirty="0"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lang="en-US" sz="1100" noProof="0" dirty="0">
                <a:latin typeface="+mn-lt"/>
                <a:ea typeface="+mn-ea"/>
              </a:defRPr>
            </a:lvl2pPr>
            <a:lvl3pPr marL="365760">
              <a:defRPr lang="en-US" sz="1100" noProof="0" dirty="0">
                <a:latin typeface="+mn-lt"/>
                <a:ea typeface="+mn-ea"/>
              </a:defRPr>
            </a:lvl3pPr>
            <a:lvl4pPr marL="548640" indent="-182880">
              <a:defRPr lang="en-US" sz="1100" noProof="0" dirty="0">
                <a:latin typeface="+mn-lt"/>
                <a:ea typeface="+mn-ea"/>
              </a:defRPr>
            </a:lvl4pPr>
            <a:lvl5pPr marL="731520">
              <a:defRPr lang="en-US" sz="1100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5352" y="3498336"/>
            <a:ext cx="5495544" cy="19440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lang="en-US" sz="1100" noProof="0" dirty="0"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lang="en-US" sz="1100" noProof="0" dirty="0">
                <a:latin typeface="+mn-lt"/>
                <a:ea typeface="+mn-ea"/>
              </a:defRPr>
            </a:lvl2pPr>
            <a:lvl3pPr marL="365760">
              <a:defRPr lang="en-US" sz="1100" noProof="0" dirty="0">
                <a:latin typeface="+mn-lt"/>
                <a:ea typeface="+mn-ea"/>
              </a:defRPr>
            </a:lvl3pPr>
            <a:lvl4pPr marL="548640" indent="-182880">
              <a:defRPr lang="en-US" sz="1100" noProof="0" dirty="0">
                <a:latin typeface="+mn-lt"/>
                <a:ea typeface="+mn-ea"/>
              </a:defRPr>
            </a:lvl4pPr>
            <a:lvl5pPr marL="731520">
              <a:defRPr lang="en-US" sz="1100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dirty="0">
                <a:latin typeface="+mn-lt"/>
                <a:ea typeface="+mn-ea"/>
              </a:defRPr>
            </a:lvl1pPr>
            <a:lvl2pPr>
              <a:defRPr lang="en-US" sz="1100" noProof="0" dirty="0">
                <a:latin typeface="+mn-lt"/>
                <a:ea typeface="+mn-ea"/>
              </a:defRPr>
            </a:lvl2pPr>
            <a:lvl3pPr>
              <a:defRPr lang="en-US" sz="1100" noProof="0" dirty="0">
                <a:latin typeface="+mn-lt"/>
                <a:ea typeface="+mn-ea"/>
              </a:defRPr>
            </a:lvl3pPr>
            <a:lvl4pPr>
              <a:defRPr lang="en-US" sz="1100" noProof="0" dirty="0">
                <a:latin typeface="+mn-lt"/>
                <a:ea typeface="+mn-ea"/>
              </a:defRPr>
            </a:lvl4pPr>
            <a:lvl5pPr>
              <a:defRPr lang="en-US" sz="1100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45352" y="1876425"/>
            <a:ext cx="3922713" cy="148272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dirty="0">
                <a:latin typeface="+mn-lt"/>
                <a:ea typeface="+mn-ea"/>
              </a:defRPr>
            </a:lvl1pPr>
            <a:lvl2pPr>
              <a:defRPr lang="en-US" sz="1100" noProof="0" dirty="0">
                <a:latin typeface="+mn-lt"/>
                <a:ea typeface="+mn-ea"/>
              </a:defRPr>
            </a:lvl2pPr>
            <a:lvl3pPr>
              <a:defRPr lang="en-US" sz="1100" noProof="0" dirty="0">
                <a:latin typeface="+mn-lt"/>
                <a:ea typeface="+mn-ea"/>
              </a:defRPr>
            </a:lvl3pPr>
            <a:lvl4pPr>
              <a:defRPr lang="en-US" sz="1100" noProof="0" dirty="0">
                <a:latin typeface="+mn-lt"/>
                <a:ea typeface="+mn-ea"/>
              </a:defRPr>
            </a:lvl4pPr>
            <a:lvl5pPr>
              <a:defRPr lang="en-US" sz="1100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BC5F4446-AAA5-FEF5-7DD8-725F1950D00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5" name="날짜 개체 틀 4">
            <a:extLst>
              <a:ext uri="{FF2B5EF4-FFF2-40B4-BE49-F238E27FC236}">
                <a16:creationId xmlns:a16="http://schemas.microsoft.com/office/drawing/2014/main" id="{575DB6BF-05F8-8620-7C57-FCF8A6797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6" name="바닥글 개체 틀 5">
            <a:extLst>
              <a:ext uri="{FF2B5EF4-FFF2-40B4-BE49-F238E27FC236}">
                <a16:creationId xmlns:a16="http://schemas.microsoft.com/office/drawing/2014/main" id="{E933F62C-31BE-AD57-742B-0E7DEE8CC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8" name="슬라이드 번호 개체 틀 6">
            <a:extLst>
              <a:ext uri="{FF2B5EF4-FFF2-40B4-BE49-F238E27FC236}">
                <a16:creationId xmlns:a16="http://schemas.microsoft.com/office/drawing/2014/main" id="{4F7B0651-5370-9064-4A37-1DFAABB2A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1917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 baseline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날짜 개체 틀 4">
            <a:extLst>
              <a:ext uri="{FF2B5EF4-FFF2-40B4-BE49-F238E27FC236}">
                <a16:creationId xmlns:a16="http://schemas.microsoft.com/office/drawing/2014/main" id="{A4C4D823-BCDA-6C67-997F-A8188190D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336BC456-1B2C-95FA-7987-BA8676524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C96E711C-9093-B567-3C7F-093897046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3615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6" name="날짜 개체 틀 4">
            <a:extLst>
              <a:ext uri="{FF2B5EF4-FFF2-40B4-BE49-F238E27FC236}">
                <a16:creationId xmlns:a16="http://schemas.microsoft.com/office/drawing/2014/main" id="{DDB8633A-ACE4-C251-1AEA-404271D8B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7" name="바닥글 개체 틀 5">
            <a:extLst>
              <a:ext uri="{FF2B5EF4-FFF2-40B4-BE49-F238E27FC236}">
                <a16:creationId xmlns:a16="http://schemas.microsoft.com/office/drawing/2014/main" id="{CCA06CDA-F7FA-473B-8AAA-26A20B45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A46230C9-4D02-9BEE-8F3C-3F712BD11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89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ADE40E2-B152-6E3F-22CB-F22C9F9D73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rgbClr val="ADADAD"/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C1CA2467-5999-4558-29B1-DB1AF5023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9960F095-E332-800C-B895-14659B858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92562741-CC09-26BB-0709-37265665E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02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6BE0844-BEA1-2DB2-DCC8-C04B13544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6" name="날짜 개체 틀 4">
            <a:extLst>
              <a:ext uri="{FF2B5EF4-FFF2-40B4-BE49-F238E27FC236}">
                <a16:creationId xmlns:a16="http://schemas.microsoft.com/office/drawing/2014/main" id="{6120C9D8-33D6-74BF-5F62-182538948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C1FFD6B8-6633-B28B-8D94-49C64ADBA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37332852-6211-C702-8E94-A85A61371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5872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74CFE4D-F3EC-A5AF-215F-EAFFF91B8B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8" name="날짜 개체 틀 4">
            <a:extLst>
              <a:ext uri="{FF2B5EF4-FFF2-40B4-BE49-F238E27FC236}">
                <a16:creationId xmlns:a16="http://schemas.microsoft.com/office/drawing/2014/main" id="{BFCAD1C7-7960-DC43-F9C8-071EA7F27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9" name="바닥글 개체 틀 5">
            <a:extLst>
              <a:ext uri="{FF2B5EF4-FFF2-40B4-BE49-F238E27FC236}">
                <a16:creationId xmlns:a16="http://schemas.microsoft.com/office/drawing/2014/main" id="{19AB24EB-B5A4-1143-79AF-EE08D42C8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1" name="슬라이드 번호 개체 틀 6">
            <a:extLst>
              <a:ext uri="{FF2B5EF4-FFF2-40B4-BE49-F238E27FC236}">
                <a16:creationId xmlns:a16="http://schemas.microsoft.com/office/drawing/2014/main" id="{6F23A051-7317-748B-C717-56DD6CD31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716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7D3160-143F-1E27-76A3-304AF7D2CC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10" name="날짜 개체 틀 4">
            <a:extLst>
              <a:ext uri="{FF2B5EF4-FFF2-40B4-BE49-F238E27FC236}">
                <a16:creationId xmlns:a16="http://schemas.microsoft.com/office/drawing/2014/main" id="{6A273123-9E71-E673-16EC-1CCABB7BA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id="{250413D5-D898-5C74-559E-50405B7E2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330FFBFE-7209-6D64-19CE-72D27B19E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8269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5" progId="TCLayout.ActiveDocument.1">
                  <p:embed/>
                </p:oleObj>
              </mc:Choice>
              <mc:Fallback>
                <p:oleObj name="think-cell 슬라이드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lang="en-US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lang="en-US"/>
          </a:p>
        </p:txBody>
      </p:sp>
      <p:sp>
        <p:nvSpPr>
          <p:cNvPr id="4" name="날짜 개체 틀 4">
            <a:extLst>
              <a:ext uri="{FF2B5EF4-FFF2-40B4-BE49-F238E27FC236}">
                <a16:creationId xmlns:a16="http://schemas.microsoft.com/office/drawing/2014/main" id="{CBD8F888-A786-D50E-A9F1-4CC38952E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0093" y="6522085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bg1"/>
                </a:solidFill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fr-FR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EE7E90-AA10-9608-FBDD-C0309AC5A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75325" y="6522085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>
                <a:solidFill>
                  <a:schemeClr val="bg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C6A609-A526-7196-34F5-6B4508D02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2085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bg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2D4AF70-669B-D742-7B05-4403337C3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7886619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847975"/>
            <a:ext cx="8528936" cy="3509773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900" b="0" baseline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CC45-3C19-3948-0E04-7130E1BB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65AAD-CB29-40C9-DDB6-76BBE0FFB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CCC8A-5DD0-023A-6188-A8473E769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grpSp>
        <p:nvGrpSpPr>
          <p:cNvPr id="7" name="Group 1">
            <a:extLst>
              <a:ext uri="{FF2B5EF4-FFF2-40B4-BE49-F238E27FC236}">
                <a16:creationId xmlns:a16="http://schemas.microsoft.com/office/drawing/2014/main" id="{6A5BBB38-234B-66DD-3788-B842DBE664B7}"/>
              </a:ext>
            </a:extLst>
          </p:cNvPr>
          <p:cNvGrpSpPr/>
          <p:nvPr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0C96B269-6B65-F454-F427-B41EB683D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7250AE7-DE77-C97A-A9F0-FF50ACE31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1C450E4-3273-84CF-DB1E-265F187A2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8856DC2E-4451-16E4-A6ED-BB085BD1F7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4F9C89F0-9A3A-36C2-811A-13B9FB622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703DD01D-2E0A-9ED0-F198-DB7FAC4A1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50C81E24-8493-80AE-3020-301F68E40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50F20D5D-9D65-FE31-BAE2-057F7402C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96A5ACE-A056-469E-5182-642499CD2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140C28FF-C6BE-251A-09F2-8771379D6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31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1" imgW="270" imgH="270" progId="TCLayout.ActiveDocument.1">
                  <p:embed/>
                </p:oleObj>
              </mc:Choice>
              <mc:Fallback>
                <p:oleObj name="think-cell 슬라이드" r:id="rId41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  <a:p>
            <a:pPr lvl="4"/>
            <a:r>
              <a:rPr lang="ko-KR" altLang="en-US" noProof="0"/>
              <a:t>다섯 번째 수준</a:t>
            </a:r>
            <a:endParaRPr lang="en-US" noProof="0"/>
          </a:p>
        </p:txBody>
      </p:sp>
      <p:sp>
        <p:nvSpPr>
          <p:cNvPr id="3" name="날짜 개체 틀 4">
            <a:extLst>
              <a:ext uri="{FF2B5EF4-FFF2-40B4-BE49-F238E27FC236}">
                <a16:creationId xmlns:a16="http://schemas.microsoft.com/office/drawing/2014/main" id="{C685AC0D-A5E4-C5D7-08FD-0295B60CF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BAF0599E-592E-68CE-3D20-B9B0DD696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5E5C7FFB-7A0C-AC09-D657-D39C35AFF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9" r:id="rId1"/>
    <p:sldLayoutId id="2147484470" r:id="rId2"/>
    <p:sldLayoutId id="2147484472" r:id="rId3"/>
    <p:sldLayoutId id="2147484474" r:id="rId4"/>
    <p:sldLayoutId id="2147484475" r:id="rId5"/>
    <p:sldLayoutId id="2147484476" r:id="rId6"/>
    <p:sldLayoutId id="2147484477" r:id="rId7"/>
    <p:sldLayoutId id="2147484478" r:id="rId8"/>
    <p:sldLayoutId id="2147484479" r:id="rId9"/>
    <p:sldLayoutId id="2147484480" r:id="rId10"/>
    <p:sldLayoutId id="2147484481" r:id="rId11"/>
    <p:sldLayoutId id="2147484482" r:id="rId12"/>
    <p:sldLayoutId id="2147484483" r:id="rId13"/>
    <p:sldLayoutId id="2147484484" r:id="rId14"/>
    <p:sldLayoutId id="2147484485" r:id="rId15"/>
    <p:sldLayoutId id="2147484486" r:id="rId16"/>
    <p:sldLayoutId id="2147484487" r:id="rId17"/>
    <p:sldLayoutId id="2147484471" r:id="rId18"/>
    <p:sldLayoutId id="2147484488" r:id="rId19"/>
    <p:sldLayoutId id="2147484489" r:id="rId20"/>
    <p:sldLayoutId id="2147484490" r:id="rId21"/>
    <p:sldLayoutId id="2147484491" r:id="rId22"/>
    <p:sldLayoutId id="2147484493" r:id="rId23"/>
    <p:sldLayoutId id="2147484494" r:id="rId24"/>
    <p:sldLayoutId id="2147484495" r:id="rId25"/>
    <p:sldLayoutId id="2147484496" r:id="rId26"/>
    <p:sldLayoutId id="2147484497" r:id="rId27"/>
    <p:sldLayoutId id="2147484498" r:id="rId28"/>
    <p:sldLayoutId id="2147484499" r:id="rId29"/>
    <p:sldLayoutId id="2147484502" r:id="rId30"/>
    <p:sldLayoutId id="2147484516" r:id="rId31"/>
    <p:sldLayoutId id="2147484503" r:id="rId32"/>
    <p:sldLayoutId id="2147484504" r:id="rId33"/>
    <p:sldLayoutId id="2147484505" r:id="rId34"/>
    <p:sldLayoutId id="2147484506" r:id="rId35"/>
    <p:sldLayoutId id="2147484507" r:id="rId36"/>
    <p:sldLayoutId id="2147484510" r:id="rId37"/>
    <p:sldLayoutId id="2147484511" r:id="rId38"/>
  </p:sldLayoutIdLst>
  <p:transition>
    <p:fade/>
  </p:transition>
  <p:hf hdr="0"/>
  <p:txStyles>
    <p:titleStyle>
      <a:lvl1pPr algn="l" defTabSz="685800" rtl="0" eaLnBrk="1" latinLnBrk="1" hangingPunct="1">
        <a:spcBef>
          <a:spcPct val="0"/>
        </a:spcBef>
        <a:buNone/>
        <a:defRPr sz="2100" kern="1200" baseline="0">
          <a:solidFill>
            <a:schemeClr val="tx1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1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1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1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1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4" pos="3936">
          <p15:clr>
            <a:srgbClr val="F26B43"/>
          </p15:clr>
        </p15:guide>
        <p15:guide id="95" orient="horz" pos="4008">
          <p15:clr>
            <a:srgbClr val="F26B43"/>
          </p15:clr>
        </p15:guide>
        <p15:guide id="96" orient="horz" pos="4104">
          <p15:clr>
            <a:srgbClr val="F26B43"/>
          </p15:clr>
        </p15:guide>
        <p15:guide id="97" orient="horz" pos="1056">
          <p15:clr>
            <a:srgbClr val="F26B43"/>
          </p15:clr>
        </p15:guide>
        <p15:guide id="98" pos="3840">
          <p15:clr>
            <a:srgbClr val="F26B43"/>
          </p15:clr>
        </p15:guide>
        <p15:guide id="99" pos="7392">
          <p15:clr>
            <a:srgbClr val="F26B43"/>
          </p15:clr>
        </p15:guide>
        <p15:guide id="100" orient="horz" pos="216">
          <p15:clr>
            <a:srgbClr val="F26B43"/>
          </p15:clr>
        </p15:guide>
        <p15:guide id="101" orient="horz" pos="432">
          <p15:clr>
            <a:srgbClr val="F26B43"/>
          </p15:clr>
        </p15:guide>
        <p15:guide id="102" pos="288">
          <p15:clr>
            <a:srgbClr val="F26B43"/>
          </p15:clr>
        </p15:guide>
        <p15:guide id="103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EEF7-A7CB-E634-9723-1FD8252E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91DBFBF-2FF5-AB4D-C984-285D9FB8D4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7507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04" imgH="405" progId="TCLayout.ActiveDocument.1">
                  <p:embed/>
                </p:oleObj>
              </mc:Choice>
              <mc:Fallback>
                <p:oleObj name="think-cell 슬라이드" r:id="rId4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1DBFBF-2FF5-AB4D-C984-285D9FB8D4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D79F90-6EA4-8A00-707C-FFC12C0604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</a:t>
            </a:r>
            <a:r>
              <a:rPr lang="fr-FR" altLang="ko-KR" err="1"/>
              <a:t>Anjin</a:t>
            </a:r>
            <a:r>
              <a:rPr lang="fr-FR" altLang="ko-KR"/>
              <a:t> LLC </a:t>
            </a:r>
            <a:endParaRPr lang="fr-FR"/>
          </a:p>
        </p:txBody>
      </p: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ECB33855-7BFF-FB00-65E9-A3D6167552B3}"/>
              </a:ext>
            </a:extLst>
          </p:cNvPr>
          <p:cNvGrpSpPr/>
          <p:nvPr/>
        </p:nvGrpSpPr>
        <p:grpSpPr>
          <a:xfrm>
            <a:off x="10450629" y="142748"/>
            <a:ext cx="1609117" cy="841820"/>
            <a:chOff x="10085541" y="196764"/>
            <a:chExt cx="868362" cy="2331880"/>
          </a:xfrm>
        </p:grpSpPr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CEEC80B9-AB66-A179-FB1A-12370D47A688}"/>
                </a:ext>
              </a:extLst>
            </p:cNvPr>
            <p:cNvSpPr/>
            <p:nvPr/>
          </p:nvSpPr>
          <p:spPr bwMode="gray">
            <a:xfrm>
              <a:off x="10085541" y="196764"/>
              <a:ext cx="868362" cy="707652"/>
            </a:xfrm>
            <a:prstGeom prst="rect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en-US" altLang="ko-KR" sz="1200" b="1">
                  <a:solidFill>
                    <a:schemeClr val="bg1"/>
                  </a:solidFill>
                </a:rPr>
                <a:t>AX </a:t>
              </a:r>
              <a:r>
                <a:rPr lang="ko-KR" altLang="en-US" sz="1200" b="1">
                  <a:solidFill>
                    <a:schemeClr val="bg1"/>
                  </a:solidFill>
                </a:rPr>
                <a:t>모듈</a:t>
              </a:r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881B5099-7E2C-95F7-19BC-7D782A785E5A}"/>
                </a:ext>
              </a:extLst>
            </p:cNvPr>
            <p:cNvSpPr/>
            <p:nvPr/>
          </p:nvSpPr>
          <p:spPr bwMode="gray">
            <a:xfrm>
              <a:off x="10087937" y="1011464"/>
              <a:ext cx="865966" cy="707652"/>
            </a:xfrm>
            <a:prstGeom prst="rect">
              <a:avLst/>
            </a:prstGeom>
            <a:solidFill>
              <a:srgbClr val="EB6F17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200" b="1">
                  <a:solidFill>
                    <a:schemeClr val="bg1"/>
                  </a:solidFill>
                </a:rPr>
                <a:t>창신</a:t>
              </a:r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14D41BD6-D7E6-B9CF-80F0-685083751A44}"/>
                </a:ext>
              </a:extLst>
            </p:cNvPr>
            <p:cNvSpPr/>
            <p:nvPr/>
          </p:nvSpPr>
          <p:spPr bwMode="gray">
            <a:xfrm>
              <a:off x="10085541" y="1820992"/>
              <a:ext cx="868362" cy="707652"/>
            </a:xfrm>
            <a:prstGeom prst="rect">
              <a:avLst/>
            </a:prstGeom>
            <a:solidFill>
              <a:srgbClr val="75787B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 err="1">
                  <a:solidFill>
                    <a:schemeClr val="bg1"/>
                  </a:solidFill>
                </a:rPr>
                <a:t>외주처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43" name="그룹 342">
            <a:extLst>
              <a:ext uri="{FF2B5EF4-FFF2-40B4-BE49-F238E27FC236}">
                <a16:creationId xmlns:a16="http://schemas.microsoft.com/office/drawing/2014/main" id="{EE296947-5CB5-EB32-DB20-8752DFCF1CEA}"/>
              </a:ext>
            </a:extLst>
          </p:cNvPr>
          <p:cNvGrpSpPr/>
          <p:nvPr/>
        </p:nvGrpSpPr>
        <p:grpSpPr>
          <a:xfrm>
            <a:off x="10450629" y="1073611"/>
            <a:ext cx="1604676" cy="206273"/>
            <a:chOff x="10404909" y="1073611"/>
            <a:chExt cx="1604676" cy="206273"/>
          </a:xfrm>
        </p:grpSpPr>
        <p:cxnSp>
          <p:nvCxnSpPr>
            <p:cNvPr id="330" name="직선 화살표 연결선 329">
              <a:extLst>
                <a:ext uri="{FF2B5EF4-FFF2-40B4-BE49-F238E27FC236}">
                  <a16:creationId xmlns:a16="http://schemas.microsoft.com/office/drawing/2014/main" id="{87FE1BA9-0B86-75A2-9F3C-3513196BF9B0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909" y="1073611"/>
              <a:ext cx="1604676" cy="0"/>
            </a:xfrm>
            <a:prstGeom prst="straightConnector1">
              <a:avLst/>
            </a:prstGeom>
            <a:ln>
              <a:solidFill>
                <a:srgbClr val="009A4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A3D5792E-58F8-9C70-7D27-5505E8B4F74D}"/>
                </a:ext>
              </a:extLst>
            </p:cNvPr>
            <p:cNvSpPr/>
            <p:nvPr/>
          </p:nvSpPr>
          <p:spPr bwMode="gray">
            <a:xfrm>
              <a:off x="10404909" y="1095313"/>
              <a:ext cx="1604676" cy="18457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</a:pPr>
              <a:r>
                <a:rPr lang="en-US" altLang="ko-KR" sz="1200" b="1">
                  <a:solidFill>
                    <a:srgbClr val="009A44"/>
                  </a:solidFill>
                </a:rPr>
                <a:t>AX</a:t>
              </a:r>
              <a:r>
                <a:rPr lang="ko-KR" altLang="en-US" sz="1200" b="1">
                  <a:solidFill>
                    <a:srgbClr val="009A44"/>
                  </a:solidFill>
                </a:rPr>
                <a:t> 모듈 자체 기능</a:t>
              </a:r>
            </a:p>
          </p:txBody>
        </p: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5D3D3E36-DC47-BB8C-21BE-D1A657651631}"/>
              </a:ext>
            </a:extLst>
          </p:cNvPr>
          <p:cNvGrpSpPr/>
          <p:nvPr/>
        </p:nvGrpSpPr>
        <p:grpSpPr>
          <a:xfrm>
            <a:off x="10450629" y="1327019"/>
            <a:ext cx="1604676" cy="206273"/>
            <a:chOff x="10404909" y="1299502"/>
            <a:chExt cx="1604676" cy="206273"/>
          </a:xfrm>
        </p:grpSpPr>
        <p:cxnSp>
          <p:nvCxnSpPr>
            <p:cNvPr id="337" name="직선 화살표 연결선 336">
              <a:extLst>
                <a:ext uri="{FF2B5EF4-FFF2-40B4-BE49-F238E27FC236}">
                  <a16:creationId xmlns:a16="http://schemas.microsoft.com/office/drawing/2014/main" id="{F2E254DF-F319-934F-3A6C-6AABAEE38AAE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909" y="1299502"/>
              <a:ext cx="160467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직사각형 337">
              <a:extLst>
                <a:ext uri="{FF2B5EF4-FFF2-40B4-BE49-F238E27FC236}">
                  <a16:creationId xmlns:a16="http://schemas.microsoft.com/office/drawing/2014/main" id="{E3D3ABC3-D329-353A-4DAE-FA4CC65B5594}"/>
                </a:ext>
              </a:extLst>
            </p:cNvPr>
            <p:cNvSpPr/>
            <p:nvPr/>
          </p:nvSpPr>
          <p:spPr bwMode="gray">
            <a:xfrm>
              <a:off x="10404909" y="1321204"/>
              <a:ext cx="1604676" cy="18457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>
                  <a:solidFill>
                    <a:srgbClr val="FF0000"/>
                  </a:solidFill>
                </a:rPr>
                <a:t>디지털 터치포인트</a:t>
              </a:r>
            </a:p>
          </p:txBody>
        </p:sp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DF7F70D8-D7F2-8A1F-AA8C-6B88A11A430A}"/>
              </a:ext>
            </a:extLst>
          </p:cNvPr>
          <p:cNvGrpSpPr/>
          <p:nvPr/>
        </p:nvGrpSpPr>
        <p:grpSpPr>
          <a:xfrm>
            <a:off x="10450629" y="1580427"/>
            <a:ext cx="1604676" cy="206273"/>
            <a:chOff x="10404909" y="1525394"/>
            <a:chExt cx="1604676" cy="206273"/>
          </a:xfrm>
        </p:grpSpPr>
        <p:cxnSp>
          <p:nvCxnSpPr>
            <p:cNvPr id="340" name="직선 화살표 연결선 339">
              <a:extLst>
                <a:ext uri="{FF2B5EF4-FFF2-40B4-BE49-F238E27FC236}">
                  <a16:creationId xmlns:a16="http://schemas.microsoft.com/office/drawing/2014/main" id="{CB926235-F416-7D67-7279-7D8A94778871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909" y="1525394"/>
              <a:ext cx="1604676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직사각형 340">
              <a:extLst>
                <a:ext uri="{FF2B5EF4-FFF2-40B4-BE49-F238E27FC236}">
                  <a16:creationId xmlns:a16="http://schemas.microsoft.com/office/drawing/2014/main" id="{8638B19E-E796-6BB2-8C09-0B29AC8226DE}"/>
                </a:ext>
              </a:extLst>
            </p:cNvPr>
            <p:cNvSpPr/>
            <p:nvPr/>
          </p:nvSpPr>
          <p:spPr bwMode="gray">
            <a:xfrm>
              <a:off x="10404909" y="1547096"/>
              <a:ext cx="1604676" cy="18457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/>
                <a:t>피지컬 터치포인트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7BDEC0A-0066-302C-2327-CF03849ED620}"/>
              </a:ext>
            </a:extLst>
          </p:cNvPr>
          <p:cNvGrpSpPr/>
          <p:nvPr/>
        </p:nvGrpSpPr>
        <p:grpSpPr>
          <a:xfrm>
            <a:off x="368300" y="820616"/>
            <a:ext cx="11455400" cy="5573604"/>
            <a:chOff x="368300" y="642199"/>
            <a:chExt cx="11455400" cy="557360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F791CDE-BF48-E619-39F7-97F68716A2D0}"/>
                </a:ext>
              </a:extLst>
            </p:cNvPr>
            <p:cNvSpPr/>
            <p:nvPr/>
          </p:nvSpPr>
          <p:spPr bwMode="gray">
            <a:xfrm>
              <a:off x="2468255" y="2235730"/>
              <a:ext cx="961898" cy="783877"/>
            </a:xfrm>
            <a:prstGeom prst="rect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200" b="1">
                  <a:solidFill>
                    <a:schemeClr val="bg1"/>
                  </a:solidFill>
                </a:rPr>
                <a:t>수주 예측</a:t>
              </a:r>
              <a:r>
                <a:rPr lang="en-US" altLang="ko-KR" sz="1200" b="1">
                  <a:solidFill>
                    <a:schemeClr val="bg1"/>
                  </a:solidFill>
                </a:rPr>
                <a:t>/ </a:t>
              </a:r>
              <a:r>
                <a:rPr lang="ko-KR" altLang="en-US" sz="1200" b="1">
                  <a:solidFill>
                    <a:schemeClr val="bg1"/>
                  </a:solidFill>
                </a:rPr>
                <a:t>확정 모듈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5EB33BC-4700-5B8B-4864-AD3462266BD3}"/>
                </a:ext>
              </a:extLst>
            </p:cNvPr>
            <p:cNvSpPr/>
            <p:nvPr/>
          </p:nvSpPr>
          <p:spPr bwMode="gray">
            <a:xfrm>
              <a:off x="368300" y="2235730"/>
              <a:ext cx="961898" cy="783877"/>
            </a:xfrm>
            <a:prstGeom prst="rect">
              <a:avLst/>
            </a:prstGeom>
            <a:solidFill>
              <a:srgbClr val="EB6F17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200" b="1">
                  <a:solidFill>
                    <a:schemeClr val="bg1"/>
                  </a:solidFill>
                </a:rPr>
                <a:t>영업</a:t>
              </a: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F301C14B-804F-B862-67DF-51693EC83FB9}"/>
                </a:ext>
              </a:extLst>
            </p:cNvPr>
            <p:cNvGrpSpPr/>
            <p:nvPr/>
          </p:nvGrpSpPr>
          <p:grpSpPr>
            <a:xfrm>
              <a:off x="1328629" y="2275525"/>
              <a:ext cx="1136248" cy="261204"/>
              <a:chOff x="1348048" y="956640"/>
              <a:chExt cx="871170" cy="235804"/>
            </a:xfrm>
          </p:grpSpPr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2F70F23F-70BC-E84F-4405-09A3FF2A73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0880" y="1192444"/>
                <a:ext cx="86833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B59C260-B0AF-286E-E996-3583DE541101}"/>
                  </a:ext>
                </a:extLst>
              </p:cNvPr>
              <p:cNvSpPr/>
              <p:nvPr/>
            </p:nvSpPr>
            <p:spPr bwMode="gray">
              <a:xfrm>
                <a:off x="1348048" y="956640"/>
                <a:ext cx="871170" cy="235804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rtlCol="0" anchor="b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r>
                  <a:rPr lang="en-US" altLang="ko-KR" sz="800" b="1">
                    <a:solidFill>
                      <a:srgbClr val="FF0000"/>
                    </a:solidFill>
                  </a:rPr>
                  <a:t>(1) 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수주 시나리오 입력</a:t>
                </a:r>
                <a:br>
                  <a:rPr lang="en-US" altLang="ko-KR" sz="800" b="1">
                    <a:solidFill>
                      <a:srgbClr val="FF0000"/>
                    </a:solidFill>
                  </a:rPr>
                </a:br>
                <a:r>
                  <a:rPr lang="en-US" altLang="ko-KR" sz="800" b="1">
                    <a:solidFill>
                      <a:srgbClr val="FF0000"/>
                    </a:solidFill>
                  </a:rPr>
                  <a:t>(SKU, 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물량</a:t>
                </a:r>
                <a:r>
                  <a:rPr lang="en-US" altLang="ko-KR" sz="800" b="1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배송지</a:t>
                </a:r>
                <a:r>
                  <a:rPr lang="en-US" altLang="ko-KR" sz="800" b="1">
                    <a:solidFill>
                      <a:srgbClr val="FF0000"/>
                    </a:solidFill>
                  </a:rPr>
                  <a:t>)</a:t>
                </a:r>
                <a:endParaRPr lang="ko-KR" altLang="en-US" sz="8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819A811-86FC-1C69-8D9A-6DD4C2B94CA8}"/>
                </a:ext>
              </a:extLst>
            </p:cNvPr>
            <p:cNvGrpSpPr/>
            <p:nvPr/>
          </p:nvGrpSpPr>
          <p:grpSpPr>
            <a:xfrm>
              <a:off x="1328629" y="2581958"/>
              <a:ext cx="1136248" cy="261204"/>
              <a:chOff x="1348048" y="1218035"/>
              <a:chExt cx="871170" cy="235804"/>
            </a:xfrm>
          </p:grpSpPr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C5149AD1-0017-4E3E-3993-78A56488F6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50880" y="1241530"/>
                <a:ext cx="868338" cy="0"/>
              </a:xfrm>
              <a:prstGeom prst="straightConnector1">
                <a:avLst/>
              </a:prstGeom>
              <a:ln>
                <a:solidFill>
                  <a:srgbClr val="009A4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38D636A-78A7-7C0D-0897-2B44593C9D63}"/>
                  </a:ext>
                </a:extLst>
              </p:cNvPr>
              <p:cNvSpPr/>
              <p:nvPr/>
            </p:nvSpPr>
            <p:spPr bwMode="gray">
              <a:xfrm>
                <a:off x="1348048" y="1218035"/>
                <a:ext cx="871170" cy="235804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rtlCol="0" anchor="t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r>
                  <a:rPr lang="en-US" altLang="ko-KR" sz="800" b="1">
                    <a:solidFill>
                      <a:srgbClr val="009A44"/>
                    </a:solidFill>
                  </a:rPr>
                  <a:t>(2)</a:t>
                </a:r>
                <a:r>
                  <a:rPr lang="ko-KR" altLang="en-US" sz="800" b="1">
                    <a:solidFill>
                      <a:srgbClr val="009A44"/>
                    </a:solidFill>
                  </a:rPr>
                  <a:t> 예상 납기일</a:t>
                </a: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07A7F1F5-DE2D-60FB-393D-78C72CC6B50E}"/>
                </a:ext>
              </a:extLst>
            </p:cNvPr>
            <p:cNvGrpSpPr/>
            <p:nvPr/>
          </p:nvGrpSpPr>
          <p:grpSpPr>
            <a:xfrm>
              <a:off x="1328629" y="2856003"/>
              <a:ext cx="1136248" cy="261204"/>
              <a:chOff x="1348048" y="1736366"/>
              <a:chExt cx="871170" cy="235804"/>
            </a:xfrm>
          </p:grpSpPr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BD32F83F-3A35-0A7B-A6C8-63B6B07EC9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0880" y="1758810"/>
                <a:ext cx="86833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1DAE922-75C1-96F1-5C3B-54DD0E700CED}"/>
                  </a:ext>
                </a:extLst>
              </p:cNvPr>
              <p:cNvSpPr/>
              <p:nvPr/>
            </p:nvSpPr>
            <p:spPr bwMode="gray">
              <a:xfrm>
                <a:off x="1348048" y="1736366"/>
                <a:ext cx="871170" cy="235804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rtlCol="0" anchor="t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r>
                  <a:rPr lang="en-US" altLang="ko-KR" sz="800" b="1">
                    <a:solidFill>
                      <a:srgbClr val="FF0000"/>
                    </a:solidFill>
                  </a:rPr>
                  <a:t>(3) 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수주 확정</a:t>
                </a:r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ECE5CA8-7E61-FE4A-2B1A-065763D3749A}"/>
                </a:ext>
              </a:extLst>
            </p:cNvPr>
            <p:cNvSpPr/>
            <p:nvPr/>
          </p:nvSpPr>
          <p:spPr bwMode="gray">
            <a:xfrm>
              <a:off x="4566401" y="642199"/>
              <a:ext cx="959244" cy="783877"/>
            </a:xfrm>
            <a:prstGeom prst="rect">
              <a:avLst/>
            </a:prstGeom>
            <a:solidFill>
              <a:srgbClr val="EB6F17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200" b="1">
                  <a:solidFill>
                    <a:schemeClr val="bg1"/>
                  </a:solidFill>
                </a:rPr>
                <a:t>생산관리</a:t>
              </a: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16A90225-3EF2-F916-70E9-A0AD5884262C}"/>
                </a:ext>
              </a:extLst>
            </p:cNvPr>
            <p:cNvCxnSpPr>
              <a:cxnSpLocks/>
            </p:cNvCxnSpPr>
            <p:nvPr/>
          </p:nvCxnSpPr>
          <p:spPr>
            <a:xfrm>
              <a:off x="3430153" y="2627669"/>
              <a:ext cx="1136516" cy="0"/>
            </a:xfrm>
            <a:prstGeom prst="straightConnector1">
              <a:avLst/>
            </a:prstGeom>
            <a:ln>
              <a:solidFill>
                <a:srgbClr val="009A4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3083307-EDB4-A853-9A33-26D691384B34}"/>
                </a:ext>
              </a:extLst>
            </p:cNvPr>
            <p:cNvSpPr/>
            <p:nvPr/>
          </p:nvSpPr>
          <p:spPr bwMode="gray">
            <a:xfrm>
              <a:off x="3430153" y="2366465"/>
              <a:ext cx="569328" cy="261204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b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>
                  <a:solidFill>
                    <a:srgbClr val="009A44"/>
                  </a:solidFill>
                </a:rPr>
                <a:t>(4) </a:t>
              </a:r>
              <a:r>
                <a:rPr lang="ko-KR" altLang="en-US" sz="800" b="1">
                  <a:solidFill>
                    <a:srgbClr val="009A44"/>
                  </a:solidFill>
                </a:rPr>
                <a:t>수주 내역 전달</a:t>
              </a:r>
            </a:p>
          </p:txBody>
        </p: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DE027C7D-1589-9C91-BBC3-E8364541D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153" y="1034138"/>
              <a:ext cx="1136248" cy="159353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9A4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17731B38-CFEB-7F93-61C2-71D5026421C7}"/>
                </a:ext>
              </a:extLst>
            </p:cNvPr>
            <p:cNvSpPr/>
            <p:nvPr/>
          </p:nvSpPr>
          <p:spPr bwMode="gray">
            <a:xfrm>
              <a:off x="4566642" y="2235730"/>
              <a:ext cx="961898" cy="783877"/>
            </a:xfrm>
            <a:prstGeom prst="rect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200" b="1">
                  <a:solidFill>
                    <a:schemeClr val="bg1"/>
                  </a:solidFill>
                </a:rPr>
                <a:t>스케줄링 모듈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FFD22939-B219-41E6-0DC2-D6D0AD4D60D0}"/>
                </a:ext>
              </a:extLst>
            </p:cNvPr>
            <p:cNvSpPr/>
            <p:nvPr/>
          </p:nvSpPr>
          <p:spPr bwMode="gray">
            <a:xfrm>
              <a:off x="6665029" y="2235730"/>
              <a:ext cx="961898" cy="783877"/>
            </a:xfrm>
            <a:prstGeom prst="rect">
              <a:avLst/>
            </a:prstGeom>
            <a:solidFill>
              <a:srgbClr val="EB6F17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>
                  <a:solidFill>
                    <a:schemeClr val="bg1"/>
                  </a:solidFill>
                </a:rPr>
                <a:t>생산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AA934F03-5F72-E968-9B4C-2F1EB1F35CC4}"/>
                </a:ext>
              </a:extLst>
            </p:cNvPr>
            <p:cNvSpPr/>
            <p:nvPr/>
          </p:nvSpPr>
          <p:spPr bwMode="gray">
            <a:xfrm>
              <a:off x="6665029" y="3832044"/>
              <a:ext cx="961898" cy="2383759"/>
            </a:xfrm>
            <a:prstGeom prst="rect">
              <a:avLst/>
            </a:prstGeom>
            <a:solidFill>
              <a:srgbClr val="75787B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 err="1">
                  <a:solidFill>
                    <a:schemeClr val="bg1"/>
                  </a:solidFill>
                </a:rPr>
                <a:t>외주처</a:t>
              </a:r>
              <a:r>
                <a:rPr lang="ko-KR" altLang="en-US" sz="1200" b="1">
                  <a:solidFill>
                    <a:schemeClr val="bg1"/>
                  </a:solidFill>
                </a:rPr>
                <a:t> </a:t>
              </a:r>
              <a:r>
                <a:rPr lang="en-US" altLang="ko-KR" sz="1200" b="1">
                  <a:solidFill>
                    <a:schemeClr val="bg1"/>
                  </a:solidFill>
                </a:rPr>
                <a:t>A</a:t>
              </a:r>
            </a:p>
            <a:p>
              <a:pPr algn="ctr">
                <a:lnSpc>
                  <a:spcPct val="106000"/>
                </a:lnSpc>
              </a:pPr>
              <a:r>
                <a:rPr lang="ko-KR" altLang="en-US" sz="1200" b="1" err="1">
                  <a:solidFill>
                    <a:schemeClr val="bg1"/>
                  </a:solidFill>
                </a:rPr>
                <a:t>외주처</a:t>
              </a:r>
              <a:r>
                <a:rPr lang="ko-KR" altLang="en-US" sz="1200" b="1">
                  <a:solidFill>
                    <a:schemeClr val="bg1"/>
                  </a:solidFill>
                </a:rPr>
                <a:t> </a:t>
              </a:r>
              <a:r>
                <a:rPr lang="en-US" altLang="ko-KR" sz="1200" b="1">
                  <a:solidFill>
                    <a:schemeClr val="bg1"/>
                  </a:solidFill>
                </a:rPr>
                <a:t>B</a:t>
              </a:r>
            </a:p>
            <a:p>
              <a:pPr algn="ctr">
                <a:lnSpc>
                  <a:spcPct val="106000"/>
                </a:lnSpc>
              </a:pPr>
              <a:r>
                <a:rPr lang="ko-KR" altLang="en-US" sz="1200" b="1" err="1">
                  <a:solidFill>
                    <a:schemeClr val="bg1"/>
                  </a:solidFill>
                </a:rPr>
                <a:t>외주처</a:t>
              </a:r>
              <a:r>
                <a:rPr lang="ko-KR" altLang="en-US" sz="1200" b="1">
                  <a:solidFill>
                    <a:schemeClr val="bg1"/>
                  </a:solidFill>
                </a:rPr>
                <a:t> </a:t>
              </a:r>
              <a:r>
                <a:rPr lang="en-US" altLang="ko-KR" sz="1200" b="1">
                  <a:solidFill>
                    <a:schemeClr val="bg1"/>
                  </a:solidFill>
                </a:rPr>
                <a:t>C</a:t>
              </a:r>
              <a:br>
                <a:rPr lang="en-US" altLang="ko-KR" sz="1200" b="1">
                  <a:solidFill>
                    <a:schemeClr val="bg1"/>
                  </a:solidFill>
                </a:rPr>
              </a:br>
              <a:r>
                <a:rPr lang="en-US" altLang="ko-KR" sz="1200" b="1">
                  <a:solidFill>
                    <a:schemeClr val="bg1"/>
                  </a:solidFill>
                </a:rPr>
                <a:t>…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2C763F6D-BBCE-4C97-8E2E-B96C6608CB9C}"/>
                </a:ext>
              </a:extLst>
            </p:cNvPr>
            <p:cNvSpPr/>
            <p:nvPr/>
          </p:nvSpPr>
          <p:spPr bwMode="gray">
            <a:xfrm>
              <a:off x="8763416" y="2235730"/>
              <a:ext cx="961898" cy="783877"/>
            </a:xfrm>
            <a:prstGeom prst="rect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>
                  <a:solidFill>
                    <a:schemeClr val="bg1"/>
                  </a:solidFill>
                </a:rPr>
                <a:t>생산 관제 모듈</a:t>
              </a: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EB4390C6-008E-F21E-56F8-448E73878E89}"/>
                </a:ext>
              </a:extLst>
            </p:cNvPr>
            <p:cNvGrpSpPr/>
            <p:nvPr/>
          </p:nvGrpSpPr>
          <p:grpSpPr>
            <a:xfrm>
              <a:off x="5525611" y="2350634"/>
              <a:ext cx="1136516" cy="261204"/>
              <a:chOff x="3394786" y="1277497"/>
              <a:chExt cx="871170" cy="235804"/>
            </a:xfrm>
          </p:grpSpPr>
          <p:cxnSp>
            <p:nvCxnSpPr>
              <p:cNvPr id="76" name="직선 화살표 연결선 75">
                <a:extLst>
                  <a:ext uri="{FF2B5EF4-FFF2-40B4-BE49-F238E27FC236}">
                    <a16:creationId xmlns:a16="http://schemas.microsoft.com/office/drawing/2014/main" id="{026E5E9F-EB48-06B3-E126-9A4BB58DF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7618" y="1513301"/>
                <a:ext cx="868338" cy="0"/>
              </a:xfrm>
              <a:prstGeom prst="straightConnector1">
                <a:avLst/>
              </a:prstGeom>
              <a:ln>
                <a:solidFill>
                  <a:srgbClr val="009A4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D6C7509A-22B5-893E-F003-957A902AB3D9}"/>
                  </a:ext>
                </a:extLst>
              </p:cNvPr>
              <p:cNvSpPr/>
              <p:nvPr/>
            </p:nvSpPr>
            <p:spPr bwMode="gray">
              <a:xfrm>
                <a:off x="3394786" y="1277497"/>
                <a:ext cx="871170" cy="235804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rtlCol="0" anchor="b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r>
                  <a:rPr lang="en-US" altLang="ko-KR" sz="800" b="1">
                    <a:solidFill>
                      <a:srgbClr val="009A44"/>
                    </a:solidFill>
                  </a:rPr>
                  <a:t>(5) </a:t>
                </a:r>
                <a:r>
                  <a:rPr lang="ko-KR" altLang="en-US" sz="800" b="1">
                    <a:solidFill>
                      <a:srgbClr val="009A44"/>
                    </a:solidFill>
                  </a:rPr>
                  <a:t>생산 계획 전달</a:t>
                </a:r>
              </a:p>
            </p:txBody>
          </p:sp>
        </p:grpSp>
        <p:cxnSp>
          <p:nvCxnSpPr>
            <p:cNvPr id="85" name="연결선: 꺾임 84">
              <a:extLst>
                <a:ext uri="{FF2B5EF4-FFF2-40B4-BE49-F238E27FC236}">
                  <a16:creationId xmlns:a16="http://schemas.microsoft.com/office/drawing/2014/main" id="{E69EDC83-35B9-30C7-17D5-4CD1DC88CEC1}"/>
                </a:ext>
              </a:extLst>
            </p:cNvPr>
            <p:cNvCxnSpPr>
              <a:cxnSpLocks/>
            </p:cNvCxnSpPr>
            <p:nvPr/>
          </p:nvCxnSpPr>
          <p:spPr>
            <a:xfrm>
              <a:off x="5528540" y="2610735"/>
              <a:ext cx="1136489" cy="2396255"/>
            </a:xfrm>
            <a:prstGeom prst="bentConnector3">
              <a:avLst>
                <a:gd name="adj1" fmla="val 82034"/>
              </a:avLst>
            </a:prstGeom>
            <a:ln>
              <a:solidFill>
                <a:srgbClr val="009A4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연결선: 꺾임 90">
              <a:extLst>
                <a:ext uri="{FF2B5EF4-FFF2-40B4-BE49-F238E27FC236}">
                  <a16:creationId xmlns:a16="http://schemas.microsoft.com/office/drawing/2014/main" id="{3B608FD1-F710-F1BA-9DDD-F103DD2178B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525612" y="2758403"/>
              <a:ext cx="1136516" cy="2988000"/>
            </a:xfrm>
            <a:prstGeom prst="bentConnector3">
              <a:avLst>
                <a:gd name="adj1" fmla="val 33908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74C4A337-C446-E455-76A7-C4342279A2E3}"/>
                </a:ext>
              </a:extLst>
            </p:cNvPr>
            <p:cNvGrpSpPr/>
            <p:nvPr/>
          </p:nvGrpSpPr>
          <p:grpSpPr>
            <a:xfrm>
              <a:off x="5525611" y="2758403"/>
              <a:ext cx="1136516" cy="261204"/>
              <a:chOff x="5136724" y="1478923"/>
              <a:chExt cx="871170" cy="235804"/>
            </a:xfrm>
          </p:grpSpPr>
          <p:cxnSp>
            <p:nvCxnSpPr>
              <p:cNvPr id="95" name="직선 화살표 연결선 94">
                <a:extLst>
                  <a:ext uri="{FF2B5EF4-FFF2-40B4-BE49-F238E27FC236}">
                    <a16:creationId xmlns:a16="http://schemas.microsoft.com/office/drawing/2014/main" id="{45967758-5E4E-32CD-ED56-7108F95810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9556" y="1478923"/>
                <a:ext cx="86833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C95F2927-B20B-C562-F74B-E450C3B41734}"/>
                  </a:ext>
                </a:extLst>
              </p:cNvPr>
              <p:cNvSpPr/>
              <p:nvPr/>
            </p:nvSpPr>
            <p:spPr bwMode="gray">
              <a:xfrm>
                <a:off x="5136724" y="1478923"/>
                <a:ext cx="564919" cy="235804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rtlCol="0" anchor="t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r>
                  <a:rPr lang="en-US" altLang="ko-KR" sz="800" b="1">
                    <a:solidFill>
                      <a:srgbClr val="FF0000"/>
                    </a:solidFill>
                  </a:rPr>
                  <a:t>(6) 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생산 계획 </a:t>
                </a:r>
                <a:r>
                  <a:rPr lang="ko-KR" altLang="en-US" sz="800" b="1" err="1">
                    <a:solidFill>
                      <a:srgbClr val="FF0000"/>
                    </a:solidFill>
                  </a:rPr>
                  <a:t>컨펌</a:t>
                </a:r>
                <a:r>
                  <a:rPr lang="en-US" altLang="ko-KR" sz="800" b="1">
                    <a:solidFill>
                      <a:srgbClr val="FF0000"/>
                    </a:solidFill>
                  </a:rPr>
                  <a:t> 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혹은 조정 요청</a:t>
                </a:r>
                <a:r>
                  <a:rPr lang="en-US" altLang="ko-KR" sz="800" b="1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800" b="1" err="1">
                    <a:solidFill>
                      <a:srgbClr val="FF0000"/>
                    </a:solidFill>
                  </a:rPr>
                  <a:t>미기입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 시 지속 요청</a:t>
                </a:r>
                <a:endParaRPr lang="en-US" altLang="ko-KR" sz="8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3CB93B92-40BF-9AC3-7FD8-B8AF759E422D}"/>
                </a:ext>
              </a:extLst>
            </p:cNvPr>
            <p:cNvGrpSpPr/>
            <p:nvPr/>
          </p:nvGrpSpPr>
          <p:grpSpPr>
            <a:xfrm>
              <a:off x="4232177" y="1421510"/>
              <a:ext cx="2004272" cy="814218"/>
              <a:chOff x="3890433" y="1234151"/>
              <a:chExt cx="1809375" cy="364954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AB1FAB2-F5D6-22B5-0C78-1561A86EAF23}"/>
                  </a:ext>
                </a:extLst>
              </p:cNvPr>
              <p:cNvGrpSpPr/>
              <p:nvPr/>
            </p:nvGrpSpPr>
            <p:grpSpPr>
              <a:xfrm>
                <a:off x="3890433" y="1234151"/>
                <a:ext cx="720248" cy="364954"/>
                <a:chOff x="3906308" y="1900901"/>
                <a:chExt cx="720248" cy="364954"/>
              </a:xfrm>
            </p:grpSpPr>
            <p:cxnSp>
              <p:nvCxnSpPr>
                <p:cNvPr id="101" name="직선 화살표 연결선 100">
                  <a:extLst>
                    <a:ext uri="{FF2B5EF4-FFF2-40B4-BE49-F238E27FC236}">
                      <a16:creationId xmlns:a16="http://schemas.microsoft.com/office/drawing/2014/main" id="{ACCC2AC3-4CE0-A9EE-EDD9-E4C23D83E2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26556" y="1900901"/>
                  <a:ext cx="0" cy="364954"/>
                </a:xfrm>
                <a:prstGeom prst="straightConnector1">
                  <a:avLst/>
                </a:prstGeom>
                <a:ln>
                  <a:solidFill>
                    <a:srgbClr val="009A44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직사각형 103">
                  <a:extLst>
                    <a:ext uri="{FF2B5EF4-FFF2-40B4-BE49-F238E27FC236}">
                      <a16:creationId xmlns:a16="http://schemas.microsoft.com/office/drawing/2014/main" id="{265F32A6-196F-70A4-4254-0F5E1B549A21}"/>
                    </a:ext>
                  </a:extLst>
                </p:cNvPr>
                <p:cNvSpPr/>
                <p:nvPr/>
              </p:nvSpPr>
              <p:spPr bwMode="gray">
                <a:xfrm>
                  <a:off x="3906308" y="1929044"/>
                  <a:ext cx="717848" cy="235804"/>
                </a:xfrm>
                <a:prstGeom prst="rect">
                  <a:avLst/>
                </a:prstGeom>
                <a:noFill/>
                <a:ln w="19050" algn="ctr">
                  <a:noFill/>
                  <a:miter lim="800000"/>
                  <a:headEnd/>
                  <a:tailEnd/>
                </a:ln>
              </p:spPr>
              <p:txBody>
                <a:bodyPr wrap="square" lIns="36000" tIns="36000" rIns="36000" bIns="36000" rtlCol="0" anchor="ctr"/>
                <a:lstStyle/>
                <a:p>
                  <a:pPr algn="ctr">
                    <a:lnSpc>
                      <a:spcPct val="106000"/>
                    </a:lnSpc>
                    <a:buFont typeface="Wingdings 2" pitchFamily="18" charset="2"/>
                    <a:buNone/>
                  </a:pPr>
                  <a:r>
                    <a:rPr lang="en-US" altLang="ko-KR" sz="800" b="1">
                      <a:solidFill>
                        <a:srgbClr val="009A44"/>
                      </a:solidFill>
                    </a:rPr>
                    <a:t>(7) </a:t>
                  </a:r>
                  <a:r>
                    <a:rPr lang="ko-KR" altLang="en-US" sz="800" b="1">
                      <a:solidFill>
                        <a:srgbClr val="009A44"/>
                      </a:solidFill>
                    </a:rPr>
                    <a:t>생산 계획 </a:t>
                  </a:r>
                  <a:r>
                    <a:rPr lang="ko-KR" altLang="en-US" sz="800" b="1" err="1">
                      <a:solidFill>
                        <a:srgbClr val="009A44"/>
                      </a:solidFill>
                    </a:rPr>
                    <a:t>컨펌</a:t>
                  </a:r>
                  <a:r>
                    <a:rPr lang="ko-KR" altLang="en-US" sz="800" b="1">
                      <a:solidFill>
                        <a:srgbClr val="009A44"/>
                      </a:solidFill>
                    </a:rPr>
                    <a:t> </a:t>
                  </a:r>
                  <a:r>
                    <a:rPr lang="en-US" altLang="ko-KR" sz="800" b="1">
                      <a:solidFill>
                        <a:srgbClr val="009A44"/>
                      </a:solidFill>
                    </a:rPr>
                    <a:t>/</a:t>
                  </a:r>
                  <a:r>
                    <a:rPr lang="ko-KR" altLang="en-US" sz="800" b="1">
                      <a:solidFill>
                        <a:srgbClr val="009A44"/>
                      </a:solidFill>
                    </a:rPr>
                    <a:t>조정 요청 내역 전달</a:t>
                  </a:r>
                </a:p>
              </p:txBody>
            </p:sp>
          </p:grpSp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2178F9CB-2AB4-1DE2-C630-192FDF135059}"/>
                  </a:ext>
                </a:extLst>
              </p:cNvPr>
              <p:cNvGrpSpPr/>
              <p:nvPr/>
            </p:nvGrpSpPr>
            <p:grpSpPr>
              <a:xfrm>
                <a:off x="4672886" y="1234151"/>
                <a:ext cx="1026922" cy="364954"/>
                <a:chOff x="4685586" y="1900901"/>
                <a:chExt cx="1026922" cy="364954"/>
              </a:xfrm>
            </p:grpSpPr>
            <p:cxnSp>
              <p:nvCxnSpPr>
                <p:cNvPr id="109" name="직선 화살표 연결선 108">
                  <a:extLst>
                    <a:ext uri="{FF2B5EF4-FFF2-40B4-BE49-F238E27FC236}">
                      <a16:creationId xmlns:a16="http://schemas.microsoft.com/office/drawing/2014/main" id="{D46F5DE2-B9B9-42E2-56EA-2321E8AFF3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85586" y="1900901"/>
                  <a:ext cx="0" cy="36495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2D559BCD-6E9F-68DC-0E79-4D928B2CE632}"/>
                    </a:ext>
                  </a:extLst>
                </p:cNvPr>
                <p:cNvSpPr/>
                <p:nvPr/>
              </p:nvSpPr>
              <p:spPr bwMode="gray">
                <a:xfrm>
                  <a:off x="4690666" y="1961728"/>
                  <a:ext cx="1021842" cy="170436"/>
                </a:xfrm>
                <a:prstGeom prst="rect">
                  <a:avLst/>
                </a:prstGeom>
                <a:noFill/>
                <a:ln w="19050" algn="ctr">
                  <a:noFill/>
                  <a:miter lim="800000"/>
                  <a:headEnd/>
                  <a:tailEnd/>
                </a:ln>
              </p:spPr>
              <p:txBody>
                <a:bodyPr wrap="square" lIns="36000" tIns="36000" rIns="36000" bIns="36000" rtlCol="0" anchor="ctr"/>
                <a:lstStyle/>
                <a:p>
                  <a:pPr algn="ctr">
                    <a:lnSpc>
                      <a:spcPct val="106000"/>
                    </a:lnSpc>
                    <a:buFont typeface="Wingdings 2" pitchFamily="18" charset="2"/>
                    <a:buNone/>
                  </a:pPr>
                  <a:r>
                    <a:rPr lang="en-US" altLang="ko-KR" sz="800" b="1">
                      <a:solidFill>
                        <a:srgbClr val="FF0000"/>
                      </a:solidFill>
                    </a:rPr>
                    <a:t>(8) </a:t>
                  </a:r>
                  <a:r>
                    <a:rPr lang="ko-KR" altLang="en-US" sz="800" b="1">
                      <a:solidFill>
                        <a:srgbClr val="FF0000"/>
                      </a:solidFill>
                    </a:rPr>
                    <a:t>생산 계획 조정 후 확정</a:t>
                  </a:r>
                  <a:r>
                    <a:rPr lang="en-US" altLang="ko-KR" sz="800" b="1">
                      <a:solidFill>
                        <a:srgbClr val="FF0000"/>
                      </a:solidFill>
                    </a:rPr>
                    <a:t>, </a:t>
                  </a:r>
                  <a:r>
                    <a:rPr lang="ko-KR" altLang="en-US" sz="800" b="1" err="1">
                      <a:solidFill>
                        <a:srgbClr val="FF0000"/>
                      </a:solidFill>
                    </a:rPr>
                    <a:t>미확정</a:t>
                  </a:r>
                  <a:r>
                    <a:rPr lang="ko-KR" altLang="en-US" sz="800" b="1">
                      <a:solidFill>
                        <a:srgbClr val="FF0000"/>
                      </a:solidFill>
                    </a:rPr>
                    <a:t> 시 지속 요청</a:t>
                  </a:r>
                </a:p>
              </p:txBody>
            </p:sp>
          </p:grpSp>
        </p:grpSp>
        <p:cxnSp>
          <p:nvCxnSpPr>
            <p:cNvPr id="118" name="연결선: 꺾임 117">
              <a:extLst>
                <a:ext uri="{FF2B5EF4-FFF2-40B4-BE49-F238E27FC236}">
                  <a16:creationId xmlns:a16="http://schemas.microsoft.com/office/drawing/2014/main" id="{489F70D5-0D0F-C4A0-8279-6D2924EF73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8470" y="2235730"/>
              <a:ext cx="3945895" cy="7034"/>
            </a:xfrm>
            <a:prstGeom prst="bentConnector4">
              <a:avLst>
                <a:gd name="adj1" fmla="val -50"/>
                <a:gd name="adj2" fmla="val 2828315"/>
              </a:avLst>
            </a:prstGeom>
            <a:ln>
              <a:solidFill>
                <a:srgbClr val="009A4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54D3CF9B-CF98-DA4E-2C9F-29B3F9CE5D07}"/>
                </a:ext>
              </a:extLst>
            </p:cNvPr>
            <p:cNvSpPr/>
            <p:nvPr/>
          </p:nvSpPr>
          <p:spPr bwMode="gray">
            <a:xfrm>
              <a:off x="6472729" y="1831599"/>
              <a:ext cx="1577520" cy="261204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>
                  <a:solidFill>
                    <a:srgbClr val="009A44"/>
                  </a:solidFill>
                </a:rPr>
                <a:t>(12) </a:t>
              </a:r>
              <a:r>
                <a:rPr lang="ko-KR" altLang="en-US" sz="800" b="1">
                  <a:solidFill>
                    <a:srgbClr val="009A44"/>
                  </a:solidFill>
                </a:rPr>
                <a:t>확정 생산 계획 전달</a:t>
              </a: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DAB4564B-727D-6A4F-E326-D8759B3045D6}"/>
                </a:ext>
              </a:extLst>
            </p:cNvPr>
            <p:cNvSpPr/>
            <p:nvPr/>
          </p:nvSpPr>
          <p:spPr bwMode="gray">
            <a:xfrm>
              <a:off x="1099439" y="1604041"/>
              <a:ext cx="2503127" cy="52608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>
                  <a:solidFill>
                    <a:srgbClr val="009A44"/>
                  </a:solidFill>
                </a:rPr>
                <a:t>(9) </a:t>
              </a:r>
              <a:r>
                <a:rPr lang="ko-KR" altLang="en-US" sz="800" b="1">
                  <a:solidFill>
                    <a:srgbClr val="009A44"/>
                  </a:solidFill>
                </a:rPr>
                <a:t>확정 생산 계획 전달</a:t>
              </a:r>
              <a:r>
                <a:rPr lang="en-US" altLang="ko-KR" sz="800" b="1">
                  <a:solidFill>
                    <a:srgbClr val="009A44"/>
                  </a:solidFill>
                </a:rPr>
                <a:t>, </a:t>
              </a:r>
              <a:r>
                <a:rPr lang="ko-KR" altLang="en-US" sz="800" b="1"/>
                <a:t>납기일 조정 필요 시  영업에서 고객과 협의 후 납기일 조정</a:t>
              </a:r>
              <a:r>
                <a:rPr lang="en-US" altLang="ko-KR" sz="800" b="1"/>
                <a:t>, </a:t>
              </a:r>
              <a:r>
                <a:rPr lang="ko-KR" altLang="en-US" sz="800" b="1"/>
                <a:t>조정 납기일 기입 필요</a:t>
              </a:r>
            </a:p>
          </p:txBody>
        </p:sp>
        <p:cxnSp>
          <p:nvCxnSpPr>
            <p:cNvPr id="153" name="직선 화살표 연결선 152">
              <a:extLst>
                <a:ext uri="{FF2B5EF4-FFF2-40B4-BE49-F238E27FC236}">
                  <a16:creationId xmlns:a16="http://schemas.microsoft.com/office/drawing/2014/main" id="{CE3E891B-E99A-3B11-3A04-45A2EDEF9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6926" y="2611837"/>
              <a:ext cx="1136489" cy="0"/>
            </a:xfrm>
            <a:prstGeom prst="straightConnector1">
              <a:avLst/>
            </a:prstGeom>
            <a:ln>
              <a:solidFill>
                <a:srgbClr val="009A4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03B5C9B0-1B5A-311C-1DB6-D315D434CA4C}"/>
                </a:ext>
              </a:extLst>
            </p:cNvPr>
            <p:cNvSpPr/>
            <p:nvPr/>
          </p:nvSpPr>
          <p:spPr bwMode="gray">
            <a:xfrm>
              <a:off x="8763416" y="3833828"/>
              <a:ext cx="961898" cy="783877"/>
            </a:xfrm>
            <a:prstGeom prst="rect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>
                  <a:solidFill>
                    <a:schemeClr val="bg1"/>
                  </a:solidFill>
                </a:rPr>
                <a:t>물류 모듈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1A0063A3-5C07-02C4-D475-F58DBB3DCD39}"/>
                </a:ext>
              </a:extLst>
            </p:cNvPr>
            <p:cNvSpPr/>
            <p:nvPr/>
          </p:nvSpPr>
          <p:spPr bwMode="gray">
            <a:xfrm>
              <a:off x="10861802" y="2235730"/>
              <a:ext cx="961898" cy="783877"/>
            </a:xfrm>
            <a:prstGeom prst="rect">
              <a:avLst/>
            </a:prstGeom>
            <a:solidFill>
              <a:srgbClr val="EB6F17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>
                  <a:solidFill>
                    <a:schemeClr val="bg1"/>
                  </a:solidFill>
                </a:rPr>
                <a:t>품질</a:t>
              </a:r>
            </a:p>
          </p:txBody>
        </p:sp>
        <p:cxnSp>
          <p:nvCxnSpPr>
            <p:cNvPr id="170" name="연결선: 꺾임 169">
              <a:extLst>
                <a:ext uri="{FF2B5EF4-FFF2-40B4-BE49-F238E27FC236}">
                  <a16:creationId xmlns:a16="http://schemas.microsoft.com/office/drawing/2014/main" id="{24629B0E-D7F6-950D-9BBF-41854FC7CD5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626928" y="2610734"/>
              <a:ext cx="1136489" cy="2396255"/>
            </a:xfrm>
            <a:prstGeom prst="bentConnector3">
              <a:avLst>
                <a:gd name="adj1" fmla="val 82034"/>
              </a:avLst>
            </a:prstGeom>
            <a:ln>
              <a:solidFill>
                <a:srgbClr val="009A4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A58AD84E-2004-9010-24F4-EF7B9625A20E}"/>
                </a:ext>
              </a:extLst>
            </p:cNvPr>
            <p:cNvSpPr/>
            <p:nvPr/>
          </p:nvSpPr>
          <p:spPr bwMode="gray">
            <a:xfrm>
              <a:off x="7626900" y="2163509"/>
              <a:ext cx="1136516" cy="448329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b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>
                  <a:solidFill>
                    <a:srgbClr val="009A44"/>
                  </a:solidFill>
                </a:rPr>
                <a:t>(13) </a:t>
              </a:r>
              <a:r>
                <a:rPr lang="ko-KR" altLang="en-US" sz="800" b="1">
                  <a:solidFill>
                    <a:srgbClr val="009A44"/>
                  </a:solidFill>
                </a:rPr>
                <a:t>매일 확정 생산 계획 전달 </a:t>
              </a:r>
              <a:r>
                <a:rPr lang="en-US" altLang="ko-KR" sz="800" b="1">
                  <a:solidFill>
                    <a:srgbClr val="009A44"/>
                  </a:solidFill>
                </a:rPr>
                <a:t>(</a:t>
              </a:r>
              <a:r>
                <a:rPr lang="ko-KR" altLang="en-US" sz="800" b="1">
                  <a:solidFill>
                    <a:srgbClr val="009A44"/>
                  </a:solidFill>
                </a:rPr>
                <a:t>언제까지 무슨 제품 몇 개 생산</a:t>
              </a:r>
              <a:r>
                <a:rPr lang="en-US" altLang="ko-KR" sz="800" b="1">
                  <a:solidFill>
                    <a:srgbClr val="009A44"/>
                  </a:solidFill>
                </a:rPr>
                <a:t>)</a:t>
              </a:r>
              <a:endParaRPr lang="ko-KR" altLang="en-US" sz="800" b="1">
                <a:solidFill>
                  <a:srgbClr val="009A44"/>
                </a:solidFill>
              </a:endParaRPr>
            </a:p>
          </p:txBody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4DAC9A7B-FED2-F9DE-5C02-2E24A14888B5}"/>
                </a:ext>
              </a:extLst>
            </p:cNvPr>
            <p:cNvGrpSpPr/>
            <p:nvPr/>
          </p:nvGrpSpPr>
          <p:grpSpPr>
            <a:xfrm>
              <a:off x="7611661" y="2758403"/>
              <a:ext cx="1140239" cy="261204"/>
              <a:chOff x="5136720" y="1638228"/>
              <a:chExt cx="874023" cy="261204"/>
            </a:xfrm>
          </p:grpSpPr>
          <p:cxnSp>
            <p:nvCxnSpPr>
              <p:cNvPr id="177" name="직선 화살표 연결선 176">
                <a:extLst>
                  <a:ext uri="{FF2B5EF4-FFF2-40B4-BE49-F238E27FC236}">
                    <a16:creationId xmlns:a16="http://schemas.microsoft.com/office/drawing/2014/main" id="{F15A00FA-B05F-5CB8-6580-F4E170441E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6720" y="1638228"/>
                <a:ext cx="871167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9B4D8AB2-35B7-6B57-BCA6-AD667ED9450A}"/>
                  </a:ext>
                </a:extLst>
              </p:cNvPr>
              <p:cNvSpPr/>
              <p:nvPr/>
            </p:nvSpPr>
            <p:spPr bwMode="gray">
              <a:xfrm>
                <a:off x="5476150" y="1638228"/>
                <a:ext cx="534593" cy="261204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rtlCol="0" anchor="t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r>
                  <a:rPr lang="en-US" altLang="ko-KR" sz="800" b="1">
                    <a:solidFill>
                      <a:srgbClr val="FF0000"/>
                    </a:solidFill>
                  </a:rPr>
                  <a:t>(14) 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확정 생산 계획 확인 및 준수 불가로 인한 납기일 조정 요청 및 품질</a:t>
                </a:r>
                <a:r>
                  <a:rPr lang="en-US" altLang="ko-KR" sz="800" b="1">
                    <a:solidFill>
                      <a:srgbClr val="FF0000"/>
                    </a:solidFill>
                  </a:rPr>
                  <a:t> </a:t>
                </a:r>
                <a:r>
                  <a:rPr lang="ko-KR" altLang="en-US" sz="800" b="1">
                    <a:solidFill>
                      <a:srgbClr val="FF0000"/>
                    </a:solidFill>
                  </a:rPr>
                  <a:t>판정 요청</a:t>
                </a:r>
                <a:endParaRPr lang="en-US" altLang="ko-KR" sz="800" b="1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84" name="연결선: 꺾임 183">
              <a:extLst>
                <a:ext uri="{FF2B5EF4-FFF2-40B4-BE49-F238E27FC236}">
                  <a16:creationId xmlns:a16="http://schemas.microsoft.com/office/drawing/2014/main" id="{6B12AAEB-F840-2F02-0E88-C61D13D05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6924" y="2758405"/>
              <a:ext cx="1136489" cy="2988000"/>
            </a:xfrm>
            <a:prstGeom prst="bentConnector3">
              <a:avLst>
                <a:gd name="adj1" fmla="val 33083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연결선: 꺾임 199">
              <a:extLst>
                <a:ext uri="{FF2B5EF4-FFF2-40B4-BE49-F238E27FC236}">
                  <a16:creationId xmlns:a16="http://schemas.microsoft.com/office/drawing/2014/main" id="{50557E9B-C52E-330D-9D2B-4F97DE35E6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525645" y="1034138"/>
              <a:ext cx="3921304" cy="1201595"/>
            </a:xfrm>
            <a:prstGeom prst="bentConnector3">
              <a:avLst>
                <a:gd name="adj1" fmla="val -8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6C8AEEE6-E371-8FFA-D723-D4369A783DA9}"/>
                </a:ext>
              </a:extLst>
            </p:cNvPr>
            <p:cNvSpPr/>
            <p:nvPr/>
          </p:nvSpPr>
          <p:spPr bwMode="gray">
            <a:xfrm>
              <a:off x="5779161" y="849739"/>
              <a:ext cx="3414270" cy="211029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>
                  <a:solidFill>
                    <a:srgbClr val="FF0000"/>
                  </a:solidFill>
                </a:rPr>
                <a:t>(17) </a:t>
              </a:r>
              <a:r>
                <a:rPr lang="ko-KR" altLang="en-US" sz="800" b="1">
                  <a:solidFill>
                    <a:srgbClr val="FF0000"/>
                  </a:solidFill>
                </a:rPr>
                <a:t>생산 계획 준수 불가 내역 확인</a:t>
              </a:r>
              <a:r>
                <a:rPr lang="en-US" altLang="ko-KR" sz="800" b="1">
                  <a:solidFill>
                    <a:srgbClr val="FF0000"/>
                  </a:solidFill>
                </a:rPr>
                <a:t>, </a:t>
              </a:r>
              <a:r>
                <a:rPr lang="ko-KR" altLang="en-US" sz="800" b="1">
                  <a:solidFill>
                    <a:srgbClr val="FF0000"/>
                  </a:solidFill>
                </a:rPr>
                <a:t>스케줄 조정 필요 시 </a:t>
              </a:r>
              <a:r>
                <a:rPr lang="en-US" altLang="ko-KR" sz="800" b="1">
                  <a:solidFill>
                    <a:srgbClr val="FF0000"/>
                  </a:solidFill>
                </a:rPr>
                <a:t>(5)~(16) </a:t>
              </a:r>
              <a:r>
                <a:rPr lang="ko-KR" altLang="en-US" sz="800" b="1">
                  <a:solidFill>
                    <a:srgbClr val="FF0000"/>
                  </a:solidFill>
                </a:rPr>
                <a:t>반복</a:t>
              </a:r>
            </a:p>
          </p:txBody>
        </p:sp>
        <p:cxnSp>
          <p:nvCxnSpPr>
            <p:cNvPr id="210" name="직선 화살표 연결선 209">
              <a:extLst>
                <a:ext uri="{FF2B5EF4-FFF2-40B4-BE49-F238E27FC236}">
                  <a16:creationId xmlns:a16="http://schemas.microsoft.com/office/drawing/2014/main" id="{6CA3F08F-B10F-5944-4CC7-686FD76E86D5}"/>
                </a:ext>
              </a:extLst>
            </p:cNvPr>
            <p:cNvCxnSpPr>
              <a:cxnSpLocks/>
            </p:cNvCxnSpPr>
            <p:nvPr/>
          </p:nvCxnSpPr>
          <p:spPr>
            <a:xfrm>
              <a:off x="9244364" y="3019607"/>
              <a:ext cx="0" cy="814221"/>
            </a:xfrm>
            <a:prstGeom prst="straightConnector1">
              <a:avLst/>
            </a:prstGeom>
            <a:ln>
              <a:solidFill>
                <a:srgbClr val="009A44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55745B3C-CB14-5D43-F80B-3ABF7C43785E}"/>
                </a:ext>
              </a:extLst>
            </p:cNvPr>
            <p:cNvSpPr/>
            <p:nvPr/>
          </p:nvSpPr>
          <p:spPr bwMode="gray">
            <a:xfrm>
              <a:off x="9240698" y="3236594"/>
              <a:ext cx="720897" cy="380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>
                  <a:solidFill>
                    <a:srgbClr val="009A44"/>
                  </a:solidFill>
                </a:rPr>
                <a:t>(15)</a:t>
              </a:r>
              <a:r>
                <a:rPr lang="ko-KR" altLang="en-US" sz="800" b="1">
                  <a:solidFill>
                    <a:srgbClr val="009A44"/>
                  </a:solidFill>
                </a:rPr>
                <a:t> 확정 스케줄 기반 물류 슬롯 생성</a:t>
              </a:r>
            </a:p>
          </p:txBody>
        </p:sp>
        <p:cxnSp>
          <p:nvCxnSpPr>
            <p:cNvPr id="224" name="연결선: 꺾임 223">
              <a:extLst>
                <a:ext uri="{FF2B5EF4-FFF2-40B4-BE49-F238E27FC236}">
                  <a16:creationId xmlns:a16="http://schemas.microsoft.com/office/drawing/2014/main" id="{B637A4E5-6008-7D62-4E5F-657183FE9559}"/>
                </a:ext>
              </a:extLst>
            </p:cNvPr>
            <p:cNvCxnSpPr>
              <a:cxnSpLocks/>
              <a:stCxn id="156" idx="3"/>
            </p:cNvCxnSpPr>
            <p:nvPr/>
          </p:nvCxnSpPr>
          <p:spPr>
            <a:xfrm flipH="1" flipV="1">
              <a:off x="5525644" y="1224055"/>
              <a:ext cx="4199669" cy="3001711"/>
            </a:xfrm>
            <a:prstGeom prst="bentConnector3">
              <a:avLst>
                <a:gd name="adj1" fmla="val -617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03C7F4C4-04A2-7405-D0F8-512ABC8800FC}"/>
                </a:ext>
              </a:extLst>
            </p:cNvPr>
            <p:cNvSpPr/>
            <p:nvPr/>
          </p:nvSpPr>
          <p:spPr bwMode="gray">
            <a:xfrm>
              <a:off x="9952487" y="3236594"/>
              <a:ext cx="1253146" cy="380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/>
                <a:t>(16)</a:t>
              </a:r>
              <a:r>
                <a:rPr lang="ko-KR" altLang="en-US" sz="800" b="1"/>
                <a:t> 물류 슬롯 기반 배차 정보 및 물류 상차 사양 기입 요청</a:t>
              </a:r>
              <a:r>
                <a:rPr lang="en-US" altLang="ko-KR" sz="800" b="1"/>
                <a:t>, </a:t>
              </a:r>
              <a:r>
                <a:rPr lang="ko-KR" altLang="en-US" sz="800" b="1" err="1"/>
                <a:t>미기입</a:t>
              </a:r>
              <a:r>
                <a:rPr lang="ko-KR" altLang="en-US" sz="800" b="1"/>
                <a:t> 시 지속 요청</a:t>
              </a:r>
            </a:p>
          </p:txBody>
        </p:sp>
        <p:cxnSp>
          <p:nvCxnSpPr>
            <p:cNvPr id="237" name="연결선: 꺾임 236">
              <a:extLst>
                <a:ext uri="{FF2B5EF4-FFF2-40B4-BE49-F238E27FC236}">
                  <a16:creationId xmlns:a16="http://schemas.microsoft.com/office/drawing/2014/main" id="{E72FA7CC-192D-8325-8909-662F311FEE51}"/>
                </a:ext>
              </a:extLst>
            </p:cNvPr>
            <p:cNvCxnSpPr>
              <a:cxnSpLocks/>
              <a:stCxn id="156" idx="1"/>
            </p:cNvCxnSpPr>
            <p:nvPr/>
          </p:nvCxnSpPr>
          <p:spPr>
            <a:xfrm rot="10800000" flipV="1">
              <a:off x="7626926" y="4225766"/>
              <a:ext cx="1136489" cy="1835074"/>
            </a:xfrm>
            <a:prstGeom prst="bentConnector3">
              <a:avLst>
                <a:gd name="adj1" fmla="val 55570"/>
              </a:avLst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연결선: 꺾임 262">
              <a:extLst>
                <a:ext uri="{FF2B5EF4-FFF2-40B4-BE49-F238E27FC236}">
                  <a16:creationId xmlns:a16="http://schemas.microsoft.com/office/drawing/2014/main" id="{2D4D5E3C-1331-8B73-598A-646799E8A50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196880" y="3294907"/>
              <a:ext cx="1210034" cy="65943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직사각형 281">
              <a:extLst>
                <a:ext uri="{FF2B5EF4-FFF2-40B4-BE49-F238E27FC236}">
                  <a16:creationId xmlns:a16="http://schemas.microsoft.com/office/drawing/2014/main" id="{83A12CBE-A142-8405-5D60-A44A1E3FC437}"/>
                </a:ext>
              </a:extLst>
            </p:cNvPr>
            <p:cNvSpPr/>
            <p:nvPr/>
          </p:nvSpPr>
          <p:spPr bwMode="gray">
            <a:xfrm>
              <a:off x="8131614" y="4893910"/>
              <a:ext cx="1990285" cy="380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/>
                <a:t>(19)</a:t>
              </a:r>
              <a:r>
                <a:rPr lang="ko-KR" altLang="en-US" sz="800" b="1"/>
                <a:t> </a:t>
              </a:r>
              <a:r>
                <a:rPr lang="en-US" altLang="ko-KR" sz="800" b="1"/>
                <a:t>WIP/</a:t>
              </a:r>
              <a:r>
                <a:rPr lang="ko-KR" altLang="en-US" sz="800" b="1"/>
                <a:t>완제품 배송 시 물류 정보 기반 </a:t>
              </a:r>
              <a:r>
                <a:rPr lang="en-US" altLang="ko-KR" sz="800" b="1"/>
                <a:t>PDA </a:t>
              </a:r>
              <a:r>
                <a:rPr lang="ko-KR" altLang="en-US" sz="800" b="1" err="1"/>
                <a:t>태깅</a:t>
              </a:r>
              <a:r>
                <a:rPr lang="en-US" altLang="ko-KR" sz="800" b="1"/>
                <a:t>, </a:t>
              </a:r>
              <a:r>
                <a:rPr lang="ko-KR" altLang="en-US" sz="800" b="1"/>
                <a:t>물류 상차 정보 일치 후 배송</a:t>
              </a:r>
              <a:r>
                <a:rPr lang="en-US" altLang="ko-KR" sz="800" b="1">
                  <a:solidFill>
                    <a:srgbClr val="009A44"/>
                  </a:solidFill>
                </a:rPr>
                <a:t>, </a:t>
              </a:r>
              <a:r>
                <a:rPr lang="ko-KR" altLang="en-US" sz="800" b="1">
                  <a:solidFill>
                    <a:srgbClr val="009A44"/>
                  </a:solidFill>
                </a:rPr>
                <a:t>물류 상차 정보 불일치 시 </a:t>
              </a:r>
              <a:r>
                <a:rPr lang="ko-KR" altLang="en-US" sz="800" b="1" err="1">
                  <a:solidFill>
                    <a:srgbClr val="009A44"/>
                  </a:solidFill>
                </a:rPr>
                <a:t>워닝</a:t>
              </a:r>
              <a:r>
                <a:rPr lang="en-US" altLang="ko-KR" sz="800" b="1">
                  <a:solidFill>
                    <a:srgbClr val="009A44"/>
                  </a:solidFill>
                </a:rPr>
                <a:t> </a:t>
              </a:r>
              <a:r>
                <a:rPr lang="ko-KR" altLang="en-US" sz="800" b="1">
                  <a:solidFill>
                    <a:srgbClr val="009A44"/>
                  </a:solidFill>
                </a:rPr>
                <a:t>및 생산관리</a:t>
              </a:r>
              <a:r>
                <a:rPr lang="en-US" altLang="ko-KR" sz="800" b="1">
                  <a:solidFill>
                    <a:srgbClr val="009A44"/>
                  </a:solidFill>
                </a:rPr>
                <a:t>/</a:t>
              </a:r>
              <a:r>
                <a:rPr lang="ko-KR" altLang="en-US" sz="800" b="1">
                  <a:solidFill>
                    <a:srgbClr val="009A44"/>
                  </a:solidFill>
                </a:rPr>
                <a:t>자재 노티</a:t>
              </a:r>
            </a:p>
          </p:txBody>
        </p:sp>
        <p:cxnSp>
          <p:nvCxnSpPr>
            <p:cNvPr id="295" name="연결선: 꺾임 294">
              <a:extLst>
                <a:ext uri="{FF2B5EF4-FFF2-40B4-BE49-F238E27FC236}">
                  <a16:creationId xmlns:a16="http://schemas.microsoft.com/office/drawing/2014/main" id="{D05A55BC-9139-0F29-260D-89436540D1CC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rot="10800000">
              <a:off x="2949205" y="3019607"/>
              <a:ext cx="3712923" cy="3039456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연결선: 꺾임 298">
              <a:extLst>
                <a:ext uri="{FF2B5EF4-FFF2-40B4-BE49-F238E27FC236}">
                  <a16:creationId xmlns:a16="http://schemas.microsoft.com/office/drawing/2014/main" id="{C1EE0703-ED4C-1611-0F6C-695CD41BFB27}"/>
                </a:ext>
              </a:extLst>
            </p:cNvPr>
            <p:cNvCxnSpPr>
              <a:cxnSpLocks/>
              <a:stCxn id="67" idx="2"/>
              <a:endCxn id="8" idx="2"/>
            </p:cNvCxnSpPr>
            <p:nvPr/>
          </p:nvCxnSpPr>
          <p:spPr>
            <a:xfrm rot="5400000">
              <a:off x="5047591" y="921220"/>
              <a:ext cx="12700" cy="4196774"/>
            </a:xfrm>
            <a:prstGeom prst="bentConnector3">
              <a:avLst>
                <a:gd name="adj1" fmla="val 48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45A975E6-9E47-9315-B46A-00A7076FD002}"/>
                </a:ext>
              </a:extLst>
            </p:cNvPr>
            <p:cNvSpPr/>
            <p:nvPr/>
          </p:nvSpPr>
          <p:spPr bwMode="gray">
            <a:xfrm>
              <a:off x="899160" y="4487103"/>
              <a:ext cx="2032689" cy="261204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>
                  <a:solidFill>
                    <a:srgbClr val="FF0000"/>
                  </a:solidFill>
                </a:rPr>
                <a:t>(0) </a:t>
              </a:r>
              <a:r>
                <a:rPr lang="ko-KR" altLang="en-US" sz="800" b="1">
                  <a:solidFill>
                    <a:srgbClr val="FF0000"/>
                  </a:solidFill>
                </a:rPr>
                <a:t>여유 </a:t>
              </a:r>
              <a:r>
                <a:rPr lang="en-US" altLang="ko-KR" sz="800" b="1">
                  <a:solidFill>
                    <a:srgbClr val="FF0000"/>
                  </a:solidFill>
                </a:rPr>
                <a:t>CAPA/</a:t>
              </a:r>
              <a:r>
                <a:rPr lang="ko-KR" altLang="en-US" sz="800" b="1">
                  <a:solidFill>
                    <a:srgbClr val="FF0000"/>
                  </a:solidFill>
                </a:rPr>
                <a:t>가동률 및 해당 업체 생산 계획 지속 </a:t>
              </a:r>
              <a:r>
                <a:rPr lang="ko-KR" altLang="en-US" sz="800" b="1" err="1">
                  <a:solidFill>
                    <a:srgbClr val="FF0000"/>
                  </a:solidFill>
                </a:rPr>
                <a:t>피딩</a:t>
              </a:r>
              <a:r>
                <a:rPr lang="ko-KR" altLang="en-US" sz="800" b="1">
                  <a:solidFill>
                    <a:srgbClr val="FF0000"/>
                  </a:solidFill>
                </a:rPr>
                <a:t> </a:t>
              </a:r>
              <a:r>
                <a:rPr lang="en-US" altLang="ko-KR" sz="800" b="1">
                  <a:solidFill>
                    <a:srgbClr val="FF0000"/>
                  </a:solidFill>
                </a:rPr>
                <a:t>(</a:t>
              </a:r>
              <a:r>
                <a:rPr lang="ko-KR" altLang="en-US" sz="800" b="1">
                  <a:solidFill>
                    <a:srgbClr val="FF0000"/>
                  </a:solidFill>
                </a:rPr>
                <a:t>데이터 실시간 연동 시 미필요</a:t>
              </a:r>
              <a:r>
                <a:rPr lang="en-US" altLang="ko-KR" sz="800" b="1">
                  <a:solidFill>
                    <a:srgbClr val="FF0000"/>
                  </a:solidFill>
                </a:rPr>
                <a:t>)</a:t>
              </a:r>
              <a:endParaRPr lang="ko-KR" altLang="en-US" sz="800" b="1">
                <a:solidFill>
                  <a:srgbClr val="FF0000"/>
                </a:solidFill>
              </a:endParaRPr>
            </a:p>
          </p:txBody>
        </p:sp>
        <p:cxnSp>
          <p:nvCxnSpPr>
            <p:cNvPr id="314" name="연결선: 꺾임 313">
              <a:extLst>
                <a:ext uri="{FF2B5EF4-FFF2-40B4-BE49-F238E27FC236}">
                  <a16:creationId xmlns:a16="http://schemas.microsoft.com/office/drawing/2014/main" id="{CB4E3526-423F-C75C-B3CC-995FC31F28D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192260" y="136559"/>
              <a:ext cx="12700" cy="4198342"/>
            </a:xfrm>
            <a:prstGeom prst="bentConnector3">
              <a:avLst>
                <a:gd name="adj1" fmla="val 15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71F2EE4E-6257-3B73-6A98-85CC2614764F}"/>
                </a:ext>
              </a:extLst>
            </p:cNvPr>
            <p:cNvSpPr/>
            <p:nvPr/>
          </p:nvSpPr>
          <p:spPr bwMode="gray">
            <a:xfrm>
              <a:off x="4566642" y="3833828"/>
              <a:ext cx="961898" cy="783877"/>
            </a:xfrm>
            <a:prstGeom prst="rect">
              <a:avLst/>
            </a:prstGeom>
            <a:solidFill>
              <a:srgbClr val="EB6F17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>
                  <a:solidFill>
                    <a:schemeClr val="bg1"/>
                  </a:solidFill>
                </a:rPr>
                <a:t>구매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07E37ED-C215-4B3A-8BF4-6889844D0C46}"/>
                </a:ext>
              </a:extLst>
            </p:cNvPr>
            <p:cNvCxnSpPr>
              <a:cxnSpLocks/>
            </p:cNvCxnSpPr>
            <p:nvPr/>
          </p:nvCxnSpPr>
          <p:spPr>
            <a:xfrm>
              <a:off x="4738663" y="3025957"/>
              <a:ext cx="0" cy="814218"/>
            </a:xfrm>
            <a:prstGeom prst="straightConnector1">
              <a:avLst/>
            </a:prstGeom>
            <a:ln>
              <a:solidFill>
                <a:srgbClr val="009A4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A584DC2-D52C-E77C-0F5C-990CD7DEDC97}"/>
                </a:ext>
              </a:extLst>
            </p:cNvPr>
            <p:cNvSpPr/>
            <p:nvPr/>
          </p:nvSpPr>
          <p:spPr bwMode="gray">
            <a:xfrm>
              <a:off x="3649472" y="3161663"/>
              <a:ext cx="1090390" cy="380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>
                  <a:solidFill>
                    <a:srgbClr val="009A44"/>
                  </a:solidFill>
                </a:rPr>
                <a:t>(10) </a:t>
              </a:r>
              <a:r>
                <a:rPr lang="ko-KR" altLang="en-US" sz="800" b="1">
                  <a:solidFill>
                    <a:srgbClr val="009A44"/>
                  </a:solidFill>
                </a:rPr>
                <a:t>확정 생산 계획 기반 원자재 부족 시 구매 지시</a:t>
              </a:r>
              <a:endParaRPr lang="ko-KR" altLang="en-US" sz="800" b="1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EAE08177-CCFF-7E10-D5DC-FFDB73E60334}"/>
                </a:ext>
              </a:extLst>
            </p:cNvPr>
            <p:cNvCxnSpPr>
              <a:cxnSpLocks/>
            </p:cNvCxnSpPr>
            <p:nvPr/>
          </p:nvCxnSpPr>
          <p:spPr>
            <a:xfrm>
              <a:off x="4815131" y="3025957"/>
              <a:ext cx="0" cy="814218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D884344-5F48-CC8C-930D-17960785274C}"/>
                </a:ext>
              </a:extLst>
            </p:cNvPr>
            <p:cNvSpPr/>
            <p:nvPr/>
          </p:nvSpPr>
          <p:spPr bwMode="gray">
            <a:xfrm>
              <a:off x="4800242" y="3203225"/>
              <a:ext cx="876869" cy="380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/>
                <a:t>(11) </a:t>
              </a:r>
              <a:r>
                <a:rPr lang="ko-KR" altLang="en-US" sz="800" b="1"/>
                <a:t>원부자재 구매 내역 기입</a:t>
              </a:r>
              <a:r>
                <a:rPr lang="en-US" altLang="ko-KR" sz="800" b="1"/>
                <a:t>, </a:t>
              </a:r>
              <a:r>
                <a:rPr lang="ko-KR" altLang="en-US" sz="800" b="1" err="1"/>
                <a:t>미기입</a:t>
              </a:r>
              <a:r>
                <a:rPr lang="ko-KR" altLang="en-US" sz="800" b="1"/>
                <a:t> 시 지속 요청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87A9346-DE74-B1E4-372A-3E50FE74A524}"/>
                </a:ext>
              </a:extLst>
            </p:cNvPr>
            <p:cNvGrpSpPr/>
            <p:nvPr/>
          </p:nvGrpSpPr>
          <p:grpSpPr>
            <a:xfrm>
              <a:off x="3430153" y="2698645"/>
              <a:ext cx="1136489" cy="261204"/>
              <a:chOff x="3430153" y="2710677"/>
              <a:chExt cx="1136489" cy="261204"/>
            </a:xfrm>
          </p:grpSpPr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2AABF659-0D96-026D-3FCE-C1CEA1DACD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0153" y="2723923"/>
                <a:ext cx="1136489" cy="0"/>
              </a:xfrm>
              <a:prstGeom prst="straightConnector1">
                <a:avLst/>
              </a:prstGeom>
              <a:ln>
                <a:solidFill>
                  <a:srgbClr val="009A4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FFCB3215-1617-FCD1-2318-42125F3DE213}"/>
                  </a:ext>
                </a:extLst>
              </p:cNvPr>
              <p:cNvSpPr/>
              <p:nvPr/>
            </p:nvSpPr>
            <p:spPr bwMode="gray">
              <a:xfrm>
                <a:off x="3430174" y="2710677"/>
                <a:ext cx="1133537" cy="261204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36000" tIns="36000" rIns="36000" bIns="36000" rtlCol="0" anchor="ctr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r>
                  <a:rPr lang="en-US" altLang="ko-KR" sz="800" b="1">
                    <a:solidFill>
                      <a:srgbClr val="009A44"/>
                    </a:solidFill>
                  </a:rPr>
                  <a:t>(0) </a:t>
                </a:r>
                <a:r>
                  <a:rPr lang="ko-KR" altLang="en-US" sz="800" b="1">
                    <a:solidFill>
                      <a:srgbClr val="009A44"/>
                    </a:solidFill>
                  </a:rPr>
                  <a:t>상시 연동</a:t>
                </a:r>
              </a:p>
            </p:txBody>
          </p: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8C11064-575C-1EE3-EE34-C8CE87B69401}"/>
                </a:ext>
              </a:extLst>
            </p:cNvPr>
            <p:cNvSpPr/>
            <p:nvPr/>
          </p:nvSpPr>
          <p:spPr bwMode="gray">
            <a:xfrm>
              <a:off x="10861801" y="3827602"/>
              <a:ext cx="961898" cy="783877"/>
            </a:xfrm>
            <a:prstGeom prst="rect">
              <a:avLst/>
            </a:prstGeom>
            <a:solidFill>
              <a:srgbClr val="EB6F17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en-US" sz="1200" b="1">
                  <a:solidFill>
                    <a:schemeClr val="bg1"/>
                  </a:solidFill>
                </a:rPr>
                <a:t>자재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5A77B159-B7C8-1799-6CA0-3912991A65D0}"/>
                </a:ext>
              </a:extLst>
            </p:cNvPr>
            <p:cNvCxnSpPr>
              <a:stCxn id="156" idx="3"/>
              <a:endCxn id="19" idx="1"/>
            </p:cNvCxnSpPr>
            <p:nvPr/>
          </p:nvCxnSpPr>
          <p:spPr>
            <a:xfrm flipV="1">
              <a:off x="9725314" y="4219541"/>
              <a:ext cx="1136487" cy="622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74DDBC4D-C93B-E9D1-F7FE-544A2055C3A6}"/>
                </a:ext>
              </a:extLst>
            </p:cNvPr>
            <p:cNvCxnSpPr>
              <a:cxnSpLocks/>
              <a:stCxn id="71" idx="3"/>
              <a:endCxn id="157" idx="1"/>
            </p:cNvCxnSpPr>
            <p:nvPr/>
          </p:nvCxnSpPr>
          <p:spPr>
            <a:xfrm>
              <a:off x="9725314" y="2627669"/>
              <a:ext cx="1136488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8859D53-B6E1-9884-1B6E-894747303CAF}"/>
                </a:ext>
              </a:extLst>
            </p:cNvPr>
            <p:cNvSpPr/>
            <p:nvPr/>
          </p:nvSpPr>
          <p:spPr bwMode="gray">
            <a:xfrm>
              <a:off x="9994900" y="2150556"/>
              <a:ext cx="866901" cy="380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36000" tIns="36000" rIns="36000" bIns="360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800" b="1"/>
                <a:t>(18)</a:t>
              </a:r>
              <a:r>
                <a:rPr lang="ko-KR" altLang="en-US" sz="800" b="1"/>
                <a:t> 품질 판정 요청 전달 </a:t>
              </a:r>
              <a:r>
                <a:rPr lang="en-US" altLang="ko-KR" sz="800" b="1"/>
                <a:t>(Go/Stop), </a:t>
              </a:r>
              <a:r>
                <a:rPr lang="ko-KR" altLang="en-US" sz="800" b="1"/>
                <a:t>해결시까지 지속 요청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ABD779-49B1-0206-9519-0108C33E56A3}"/>
              </a:ext>
            </a:extLst>
          </p:cNvPr>
          <p:cNvSpPr/>
          <p:nvPr/>
        </p:nvSpPr>
        <p:spPr bwMode="gray">
          <a:xfrm>
            <a:off x="407276" y="142748"/>
            <a:ext cx="11377448" cy="52911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>
              <a:lnSpc>
                <a:spcPct val="106000"/>
              </a:lnSpc>
            </a:pPr>
            <a:r>
              <a:rPr lang="en-US" altLang="ko-KR" b="1">
                <a:solidFill>
                  <a:sysClr val="windowText" lastClr="000000"/>
                </a:solidFill>
              </a:rPr>
              <a:t>AX-2 </a:t>
            </a:r>
            <a:r>
              <a:rPr lang="ko-KR" altLang="en-US" b="1">
                <a:solidFill>
                  <a:sysClr val="windowText" lastClr="000000"/>
                </a:solidFill>
              </a:rPr>
              <a:t>지능형 스케줄러 </a:t>
            </a:r>
            <a:r>
              <a:rPr lang="en-US" altLang="ko-KR" b="1">
                <a:solidFill>
                  <a:sysClr val="windowText" lastClr="000000"/>
                </a:solidFill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228856918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98228-AAA2-A70C-E69D-408273A4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9716675-F027-3B22-0E71-8AF42A4728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6605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04" imgH="405" progId="TCLayout.ActiveDocument.1">
                  <p:embed/>
                </p:oleObj>
              </mc:Choice>
              <mc:Fallback>
                <p:oleObj name="think-cell 슬라이드" r:id="rId4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716675-F027-3B22-0E71-8AF42A4728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241ECF-070B-DAA0-A326-871B7DE63A50}"/>
              </a:ext>
            </a:extLst>
          </p:cNvPr>
          <p:cNvSpPr/>
          <p:nvPr/>
        </p:nvSpPr>
        <p:spPr bwMode="gray">
          <a:xfrm>
            <a:off x="407276" y="142748"/>
            <a:ext cx="11377448" cy="607305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>
              <a:lnSpc>
                <a:spcPct val="106000"/>
              </a:lnSpc>
            </a:pPr>
            <a:r>
              <a:rPr lang="ko-KR" altLang="en-US" b="1">
                <a:solidFill>
                  <a:sysClr val="windowText" lastClr="000000"/>
                </a:solidFill>
              </a:rPr>
              <a:t>개발 시 고려 필요 항목 </a:t>
            </a:r>
            <a:r>
              <a:rPr lang="en-US" altLang="ko-KR" b="1">
                <a:solidFill>
                  <a:sysClr val="windowText" lastClr="000000"/>
                </a:solidFill>
              </a:rPr>
              <a:t>(</a:t>
            </a:r>
            <a:r>
              <a:rPr lang="ko-KR" altLang="en-US" b="1">
                <a:solidFill>
                  <a:sysClr val="windowText" lastClr="000000"/>
                </a:solidFill>
              </a:rPr>
              <a:t>내부 인터뷰 기반 작성 중</a:t>
            </a:r>
            <a:r>
              <a:rPr lang="en-US" altLang="ko-KR" b="1">
                <a:solidFill>
                  <a:sysClr val="windowText" lastClr="000000"/>
                </a:solidFill>
              </a:rPr>
              <a:t>, </a:t>
            </a:r>
            <a:r>
              <a:rPr lang="ko-KR" altLang="en-US" b="1">
                <a:solidFill>
                  <a:sysClr val="windowText" lastClr="000000"/>
                </a:solidFill>
              </a:rPr>
              <a:t>추후 실무진 </a:t>
            </a:r>
            <a:r>
              <a:rPr lang="ko-KR" altLang="en-US" b="1" err="1">
                <a:solidFill>
                  <a:sysClr val="windowText" lastClr="000000"/>
                </a:solidFill>
              </a:rPr>
              <a:t>재컨펌</a:t>
            </a:r>
            <a:r>
              <a:rPr lang="ko-KR" altLang="en-US" b="1">
                <a:solidFill>
                  <a:sysClr val="windowText" lastClr="000000"/>
                </a:solidFill>
              </a:rPr>
              <a:t> 예정</a:t>
            </a:r>
            <a:r>
              <a:rPr lang="en-US" altLang="ko-KR" b="1">
                <a:solidFill>
                  <a:sysClr val="windowText" lastClr="000000"/>
                </a:solidFill>
              </a:rPr>
              <a:t>)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ysClr val="windowText" lastClr="000000"/>
                </a:solidFill>
              </a:rPr>
              <a:t>(0)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여유 </a:t>
            </a:r>
            <a:r>
              <a:rPr lang="ko-KR" altLang="en-US" sz="1400" b="1" err="1">
                <a:solidFill>
                  <a:sysClr val="windowText" lastClr="000000"/>
                </a:solidFill>
              </a:rPr>
              <a:t>캐파</a:t>
            </a:r>
            <a:r>
              <a:rPr lang="ko-KR" altLang="en-US" sz="1400" b="1">
                <a:solidFill>
                  <a:sysClr val="windowText" lastClr="000000"/>
                </a:solidFill>
              </a:rPr>
              <a:t> 지속 </a:t>
            </a:r>
            <a:r>
              <a:rPr lang="ko-KR" altLang="en-US" sz="1400" b="1" err="1">
                <a:solidFill>
                  <a:sysClr val="windowText" lastClr="000000"/>
                </a:solidFill>
              </a:rPr>
              <a:t>피딩</a:t>
            </a:r>
            <a:r>
              <a:rPr lang="ko-KR" altLang="en-US" sz="1400" b="1">
                <a:solidFill>
                  <a:sysClr val="windowText" lastClr="000000"/>
                </a:solidFill>
              </a:rPr>
              <a:t> 및 실시간 연동</a:t>
            </a: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많은 기간 소요될 것으로 예상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피딩이나</a:t>
            </a:r>
            <a:r>
              <a:rPr lang="ko-KR" altLang="en-US" sz="1400">
                <a:solidFill>
                  <a:sysClr val="windowText" lastClr="000000"/>
                </a:solidFill>
              </a:rPr>
              <a:t> 실시간 연동 없이 시스템 구현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최소한 내부 생산 계획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기수주</a:t>
            </a:r>
            <a:r>
              <a:rPr lang="ko-KR" altLang="en-US" sz="1400">
                <a:solidFill>
                  <a:sysClr val="windowText" lastClr="000000"/>
                </a:solidFill>
              </a:rPr>
              <a:t> 계획이</a:t>
            </a:r>
            <a:r>
              <a:rPr lang="en-US" altLang="ko-KR" sz="1400">
                <a:solidFill>
                  <a:sysClr val="windowText" lastClr="000000"/>
                </a:solidFill>
              </a:rPr>
              <a:t> </a:t>
            </a:r>
            <a:r>
              <a:rPr lang="ko-KR" altLang="en-US" sz="1400">
                <a:solidFill>
                  <a:sysClr val="windowText" lastClr="000000"/>
                </a:solidFill>
              </a:rPr>
              <a:t>스케줄링</a:t>
            </a:r>
            <a:r>
              <a:rPr lang="en-US" altLang="ko-KR" sz="1400">
                <a:solidFill>
                  <a:sysClr val="windowText" lastClr="000000"/>
                </a:solidFill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</a:rPr>
              <a:t>예상 납기일 계산 연동 필요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및 데이터 축적</a:t>
            </a:r>
            <a:r>
              <a:rPr lang="en-US" altLang="ko-KR" sz="1400">
                <a:solidFill>
                  <a:sysClr val="windowText" lastClr="000000"/>
                </a:solidFill>
              </a:rPr>
              <a:t>/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머신러닝으로</a:t>
            </a:r>
            <a:r>
              <a:rPr lang="ko-KR" altLang="en-US" sz="1400">
                <a:solidFill>
                  <a:sysClr val="windowText" lastClr="000000"/>
                </a:solidFill>
              </a:rPr>
              <a:t> 추후 스케줄링 고도화 구현 필요</a:t>
            </a:r>
            <a:endParaRPr lang="en-US" altLang="ko-KR" sz="1400">
              <a:solidFill>
                <a:sysClr val="windowText" lastClr="000000"/>
              </a:solidFill>
              <a:highlight>
                <a:srgbClr val="FFFF00"/>
              </a:highlight>
            </a:endParaRP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ysClr val="windowText" lastClr="000000"/>
                </a:solidFill>
              </a:rPr>
              <a:t>(1)/(2)/(3)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예상 납기일 및 수주 정보</a:t>
            </a: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 err="1">
                <a:solidFill>
                  <a:sysClr val="windowText" lastClr="000000"/>
                </a:solidFill>
              </a:rPr>
              <a:t>기제품</a:t>
            </a:r>
            <a:r>
              <a:rPr lang="ko-KR" altLang="en-US" sz="1400">
                <a:solidFill>
                  <a:sysClr val="windowText" lastClr="000000"/>
                </a:solidFill>
              </a:rPr>
              <a:t> 수주 시 생산처는 </a:t>
            </a:r>
            <a:r>
              <a:rPr lang="en-US" altLang="ko-KR" sz="1400">
                <a:solidFill>
                  <a:sysClr val="windowText" lastClr="000000"/>
                </a:solidFill>
              </a:rPr>
              <a:t>ERP</a:t>
            </a:r>
            <a:r>
              <a:rPr lang="ko-KR" altLang="en-US" sz="1400">
                <a:solidFill>
                  <a:sysClr val="windowText" lastClr="000000"/>
                </a:solidFill>
              </a:rPr>
              <a:t>에 모두 기재되어 있으나 데이터 클렌징 필요</a:t>
            </a:r>
            <a:r>
              <a:rPr lang="en-US" altLang="ko-KR" sz="1400">
                <a:solidFill>
                  <a:sysClr val="windowText" lastClr="000000"/>
                </a:solidFill>
              </a:rPr>
              <a:t> (</a:t>
            </a:r>
            <a:r>
              <a:rPr lang="ko-KR" altLang="en-US" sz="1400">
                <a:solidFill>
                  <a:sysClr val="windowText" lastClr="000000"/>
                </a:solidFill>
              </a:rPr>
              <a:t>잘못 기재되어 있거나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아웃데이티드</a:t>
            </a:r>
            <a:r>
              <a:rPr lang="ko-KR" altLang="en-US" sz="1400">
                <a:solidFill>
                  <a:sysClr val="windowText" lastClr="000000"/>
                </a:solidFill>
              </a:rPr>
              <a:t> 된 내용 존재</a:t>
            </a:r>
            <a:r>
              <a:rPr lang="en-US" altLang="ko-KR" sz="1400">
                <a:solidFill>
                  <a:sysClr val="windowText" lastClr="000000"/>
                </a:solidFill>
              </a:rPr>
              <a:t>), SKU </a:t>
            </a:r>
            <a:r>
              <a:rPr lang="ko-KR" altLang="en-US" sz="1400">
                <a:solidFill>
                  <a:sysClr val="windowText" lastClr="000000"/>
                </a:solidFill>
              </a:rPr>
              <a:t>마스터 메타 데이터에 기입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예상 납기일 계산 시 최소한 내부 생산 계획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기수주</a:t>
            </a:r>
            <a:r>
              <a:rPr lang="ko-KR" altLang="en-US" sz="1400">
                <a:solidFill>
                  <a:sysClr val="windowText" lastClr="000000"/>
                </a:solidFill>
              </a:rPr>
              <a:t> 계획 관련 내용 함께 노출 필요 </a:t>
            </a:r>
            <a:r>
              <a:rPr lang="en-US" altLang="ko-KR" sz="1400">
                <a:solidFill>
                  <a:sysClr val="windowText" lastClr="000000"/>
                </a:solidFill>
              </a:rPr>
              <a:t>(</a:t>
            </a:r>
            <a:r>
              <a:rPr lang="ko-KR" altLang="en-US" sz="1400">
                <a:solidFill>
                  <a:sysClr val="windowText" lastClr="000000"/>
                </a:solidFill>
              </a:rPr>
              <a:t>예</a:t>
            </a:r>
            <a:r>
              <a:rPr lang="en-US" altLang="ko-KR" sz="1400">
                <a:solidFill>
                  <a:sysClr val="windowText" lastClr="000000"/>
                </a:solidFill>
              </a:rPr>
              <a:t>: SKU A</a:t>
            </a:r>
            <a:r>
              <a:rPr lang="ko-KR" altLang="en-US" sz="1400">
                <a:solidFill>
                  <a:sysClr val="windowText" lastClr="000000"/>
                </a:solidFill>
              </a:rPr>
              <a:t>는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기수주된</a:t>
            </a:r>
            <a:r>
              <a:rPr lang="ko-KR" altLang="en-US" sz="1400">
                <a:solidFill>
                  <a:sysClr val="windowText" lastClr="000000"/>
                </a:solidFill>
              </a:rPr>
              <a:t> 건들로 </a:t>
            </a:r>
            <a:r>
              <a:rPr lang="en-US" altLang="ko-KR" sz="1400">
                <a:solidFill>
                  <a:sysClr val="windowText" lastClr="000000"/>
                </a:solidFill>
              </a:rPr>
              <a:t>4</a:t>
            </a:r>
            <a:r>
              <a:rPr lang="ko-KR" altLang="en-US" sz="1400">
                <a:solidFill>
                  <a:sysClr val="windowText" lastClr="000000"/>
                </a:solidFill>
              </a:rPr>
              <a:t>주 후까지 이미 생산 계획 존재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이 이후에 생산 가능하고 예상 납기 일정이 평소 대비 </a:t>
            </a:r>
            <a:r>
              <a:rPr lang="en-US" altLang="ko-KR" sz="1400">
                <a:solidFill>
                  <a:sysClr val="windowText" lastClr="000000"/>
                </a:solidFill>
              </a:rPr>
              <a:t>xx</a:t>
            </a:r>
            <a:r>
              <a:rPr lang="ko-KR" altLang="en-US" sz="1400">
                <a:solidFill>
                  <a:sysClr val="windowText" lastClr="000000"/>
                </a:solidFill>
              </a:rPr>
              <a:t>일 지연됨</a:t>
            </a:r>
            <a:r>
              <a:rPr lang="en-US" altLang="ko-KR" sz="1400">
                <a:solidFill>
                  <a:sysClr val="windowText" lastClr="000000"/>
                </a:solidFill>
              </a:rPr>
              <a:t> </a:t>
            </a:r>
            <a:r>
              <a:rPr lang="ko-KR" altLang="en-US" sz="1400">
                <a:solidFill>
                  <a:sysClr val="windowText" lastClr="000000"/>
                </a:solidFill>
              </a:rPr>
              <a:t>등</a:t>
            </a:r>
            <a:r>
              <a:rPr lang="en-US" altLang="ko-KR" sz="1400">
                <a:solidFill>
                  <a:sysClr val="windowText" lastClr="000000"/>
                </a:solidFill>
              </a:rPr>
              <a:t>)</a:t>
            </a: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신제품의 경우 영업에서 전부 </a:t>
            </a:r>
            <a:r>
              <a:rPr lang="en-US" altLang="ko-KR" sz="1400">
                <a:solidFill>
                  <a:sysClr val="windowText" lastClr="000000"/>
                </a:solidFill>
              </a:rPr>
              <a:t>ERP</a:t>
            </a:r>
            <a:r>
              <a:rPr lang="ko-KR" altLang="en-US" sz="1400">
                <a:solidFill>
                  <a:sysClr val="windowText" lastClr="000000"/>
                </a:solidFill>
              </a:rPr>
              <a:t>에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외주처</a:t>
            </a:r>
            <a:r>
              <a:rPr lang="ko-KR" altLang="en-US" sz="1400">
                <a:solidFill>
                  <a:sysClr val="windowText" lastClr="000000"/>
                </a:solidFill>
              </a:rPr>
              <a:t> 등 기입하여 하달되나 조립처는 생산관리에서 지정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신제품의 경우 생산관리에서 필수적으로 조립처를 조정하도록 시스템 구현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 err="1">
                <a:solidFill>
                  <a:sysClr val="windowText" lastClr="000000"/>
                </a:solidFill>
              </a:rPr>
              <a:t>기제품</a:t>
            </a:r>
            <a:r>
              <a:rPr lang="ko-KR" altLang="en-US" sz="1400">
                <a:solidFill>
                  <a:sysClr val="windowText" lastClr="000000"/>
                </a:solidFill>
              </a:rPr>
              <a:t> 데이터 불일치 혹은 품질 이슈로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외주처</a:t>
            </a:r>
            <a:r>
              <a:rPr lang="ko-KR" altLang="en-US" sz="1400">
                <a:solidFill>
                  <a:sysClr val="windowText" lastClr="000000"/>
                </a:solidFill>
              </a:rPr>
              <a:t> 변경 가능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시스템에서 변경 시 </a:t>
            </a:r>
            <a:r>
              <a:rPr lang="en-US" altLang="ko-KR" sz="1400">
                <a:solidFill>
                  <a:sysClr val="windowText" lastClr="000000"/>
                </a:solidFill>
              </a:rPr>
              <a:t>ERP/SKU </a:t>
            </a:r>
            <a:r>
              <a:rPr lang="ko-KR" altLang="en-US" sz="1400">
                <a:solidFill>
                  <a:sysClr val="windowText" lastClr="000000"/>
                </a:solidFill>
              </a:rPr>
              <a:t>마스터 메타 데이터에서도 조정될 수 있도록 구현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영업에서 신제품 수주 시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외주처</a:t>
            </a:r>
            <a:r>
              <a:rPr lang="ko-KR" altLang="en-US" sz="1400">
                <a:solidFill>
                  <a:sysClr val="windowText" lastClr="000000"/>
                </a:solidFill>
              </a:rPr>
              <a:t> 등 기입하는 프로세스 구현 필요</a:t>
            </a:r>
            <a:r>
              <a:rPr lang="en-US" altLang="ko-KR" sz="1400">
                <a:solidFill>
                  <a:sysClr val="windowText" lastClr="000000"/>
                </a:solidFill>
              </a:rPr>
              <a:t>, ERP/SKU</a:t>
            </a:r>
            <a:r>
              <a:rPr lang="ko-KR" altLang="en-US" sz="1400">
                <a:solidFill>
                  <a:sysClr val="windowText" lastClr="000000"/>
                </a:solidFill>
              </a:rPr>
              <a:t> 마스터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메터</a:t>
            </a:r>
            <a:r>
              <a:rPr lang="ko-KR" altLang="en-US" sz="1400">
                <a:solidFill>
                  <a:sysClr val="windowText" lastClr="000000"/>
                </a:solidFill>
              </a:rPr>
              <a:t> 데이터에 연동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신제품의 경우 개발팀에서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T0, T1, T2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까지 일자 기입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추후 금형 제작 업체에서 스케줄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00FF00"/>
                </a:highlight>
              </a:rPr>
              <a:t>컨펌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그 이후 일반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00FF00"/>
                </a:highlight>
              </a:rPr>
              <a:t>기제품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생산과 동일하게 생산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외주처와 스케줄링 진행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;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추후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00FF00"/>
                </a:highlight>
              </a:rPr>
              <a:t>개발팀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과 확인 예정</a:t>
            </a:r>
            <a:endParaRPr lang="en-US" altLang="ko-KR" sz="1400">
              <a:solidFill>
                <a:sysClr val="windowText" lastClr="000000"/>
              </a:solidFill>
              <a:highlight>
                <a:srgbClr val="00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추후 외주 관리팀 신설 될 경우 해당 부서에서 신제품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외주처</a:t>
            </a:r>
            <a:r>
              <a:rPr lang="ko-KR" altLang="en-US" sz="1400">
                <a:solidFill>
                  <a:sysClr val="windowText" lastClr="000000"/>
                </a:solidFill>
              </a:rPr>
              <a:t> 기입 및 </a:t>
            </a:r>
            <a:r>
              <a:rPr lang="en-US" altLang="ko-KR" sz="1400">
                <a:solidFill>
                  <a:sysClr val="windowText" lastClr="000000"/>
                </a:solidFill>
              </a:rPr>
              <a:t>ERP/SKU </a:t>
            </a:r>
            <a:r>
              <a:rPr lang="ko-KR" altLang="en-US" sz="1400">
                <a:solidFill>
                  <a:sysClr val="windowText" lastClr="000000"/>
                </a:solidFill>
              </a:rPr>
              <a:t>마스터 메타 데이터 수정 권한 부여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 err="1">
                <a:solidFill>
                  <a:sysClr val="windowText" lastClr="000000"/>
                </a:solidFill>
              </a:rPr>
              <a:t>재생산건은</a:t>
            </a:r>
            <a:r>
              <a:rPr lang="ko-KR" altLang="en-US" sz="1400">
                <a:solidFill>
                  <a:sysClr val="windowText" lastClr="000000"/>
                </a:solidFill>
              </a:rPr>
              <a:t> 재생산을 생산관리팀에서 진행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영업팀의 수주 확정이랑 동일한 프로세스로 진행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단지 수주 번호를 기존 수주 번호의 하위 번호로 생성하며 스케줄링 자체를 더 타이트하게</a:t>
            </a:r>
            <a:r>
              <a:rPr lang="en-US" altLang="ko-KR" sz="1400">
                <a:solidFill>
                  <a:sysClr val="windowText" lastClr="000000"/>
                </a:solidFill>
              </a:rPr>
              <a:t>,</a:t>
            </a:r>
            <a:r>
              <a:rPr lang="ko-KR" altLang="en-US" sz="1400">
                <a:solidFill>
                  <a:sysClr val="windowText" lastClr="000000"/>
                </a:solidFill>
              </a:rPr>
              <a:t> 이후 프로세스는 일반 생산과 동일 </a:t>
            </a:r>
            <a:r>
              <a:rPr lang="en-US" altLang="ko-KR" sz="1400">
                <a:solidFill>
                  <a:sysClr val="windowText" lastClr="000000"/>
                </a:solidFill>
              </a:rPr>
              <a:t>&lt;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재생산 건 관련 공제 부분 정산과 연동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00FF00"/>
                </a:highlight>
              </a:rPr>
              <a:t>공제 로직 확인 필요 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00FF00"/>
                </a:highlight>
              </a:rPr>
              <a:t>(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00FF00"/>
                </a:highlight>
              </a:rPr>
              <a:t>품질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00FF00"/>
                </a:highlight>
              </a:rPr>
              <a:t>/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00FF00"/>
                </a:highlight>
              </a:rPr>
              <a:t>구매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00FF00"/>
                </a:highlight>
              </a:rPr>
              <a:t>)</a:t>
            </a: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ysClr val="windowText" lastClr="000000"/>
                </a:solidFill>
              </a:rPr>
              <a:t>(5)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생산 계획 전달</a:t>
            </a:r>
            <a:r>
              <a:rPr lang="en-US" altLang="ko-KR" sz="1400" b="1">
                <a:solidFill>
                  <a:sysClr val="windowText" lastClr="000000"/>
                </a:solidFill>
              </a:rPr>
              <a:t>/ (6)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생산 계획 </a:t>
            </a:r>
            <a:r>
              <a:rPr lang="ko-KR" altLang="en-US" sz="1400" b="1" err="1">
                <a:solidFill>
                  <a:sysClr val="windowText" lastClr="000000"/>
                </a:solidFill>
              </a:rPr>
              <a:t>컨펌</a:t>
            </a:r>
            <a:r>
              <a:rPr lang="ko-KR" altLang="en-US" sz="1400" b="1">
                <a:solidFill>
                  <a:sysClr val="windowText" lastClr="000000"/>
                </a:solidFill>
              </a:rPr>
              <a:t> </a:t>
            </a:r>
            <a:r>
              <a:rPr lang="en-US" altLang="ko-KR" sz="1400" b="1">
                <a:solidFill>
                  <a:sysClr val="windowText" lastClr="000000"/>
                </a:solidFill>
              </a:rPr>
              <a:t>/</a:t>
            </a:r>
            <a:r>
              <a:rPr lang="ko-KR" altLang="en-US" sz="1400" b="1">
                <a:solidFill>
                  <a:sysClr val="windowText" lastClr="000000"/>
                </a:solidFill>
              </a:rPr>
              <a:t> </a:t>
            </a:r>
            <a:r>
              <a:rPr lang="en-US" altLang="ko-KR" sz="1400" b="1">
                <a:solidFill>
                  <a:sysClr val="windowText" lastClr="000000"/>
                </a:solidFill>
              </a:rPr>
              <a:t>(8)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생산 계획 확정 </a:t>
            </a:r>
            <a:r>
              <a:rPr lang="en-US" altLang="ko-KR" sz="1400" b="1">
                <a:solidFill>
                  <a:sysClr val="windowText" lastClr="000000"/>
                </a:solidFill>
              </a:rPr>
              <a:t>&lt;</a:t>
            </a:r>
            <a:r>
              <a:rPr lang="ko-KR" altLang="en-US" sz="1400" b="1">
                <a:solidFill>
                  <a:sysClr val="windowText" lastClr="000000"/>
                </a:solidFill>
              </a:rPr>
              <a:t>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생산관리팀이 엑셀 작성 후 카톡으로 배포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시스템에서 구현하면 휴먼 에러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업무 시간 축소 가능</a:t>
            </a:r>
            <a:endParaRPr lang="en-US" altLang="ko-KR" sz="1400" b="1">
              <a:solidFill>
                <a:sysClr val="windowText" lastClr="000000"/>
              </a:solidFill>
              <a:highlight>
                <a:srgbClr val="FF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현재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엑세을</a:t>
            </a:r>
            <a:r>
              <a:rPr lang="ko-KR" altLang="en-US" sz="1400">
                <a:solidFill>
                  <a:sysClr val="windowText" lastClr="000000"/>
                </a:solidFill>
              </a:rPr>
              <a:t> 통해 업체들에게 </a:t>
            </a:r>
            <a:r>
              <a:rPr lang="en-US" altLang="ko-KR" sz="1400">
                <a:solidFill>
                  <a:sysClr val="windowText" lastClr="000000"/>
                </a:solidFill>
              </a:rPr>
              <a:t>SKU, </a:t>
            </a:r>
            <a:r>
              <a:rPr lang="ko-KR" altLang="en-US" sz="1400">
                <a:solidFill>
                  <a:sysClr val="windowText" lastClr="000000"/>
                </a:solidFill>
              </a:rPr>
              <a:t>수량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입고일</a:t>
            </a:r>
            <a:r>
              <a:rPr lang="en-US" altLang="ko-KR" sz="1400">
                <a:solidFill>
                  <a:sysClr val="windowText" lastClr="000000"/>
                </a:solidFill>
              </a:rPr>
              <a:t>(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후가공</a:t>
            </a:r>
            <a:r>
              <a:rPr lang="ko-KR" altLang="en-US" sz="1400">
                <a:solidFill>
                  <a:sysClr val="windowText" lastClr="000000"/>
                </a:solidFill>
              </a:rPr>
              <a:t> 업체일 경우 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전공정에서 언제 입고될 지 알려줘야 함</a:t>
            </a:r>
            <a:r>
              <a:rPr lang="en-US" altLang="ko-KR" sz="1400">
                <a:solidFill>
                  <a:sysClr val="windowText" lastClr="000000"/>
                </a:solidFill>
              </a:rPr>
              <a:t>), </a:t>
            </a:r>
            <a:r>
              <a:rPr lang="ko-KR" altLang="en-US" sz="1400">
                <a:solidFill>
                  <a:sysClr val="windowText" lastClr="000000"/>
                </a:solidFill>
              </a:rPr>
              <a:t>필요 납기일을 기입해서 줌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이에 대해서 각 업체들은 예정 납기일을 기입해서 회신함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이 회신을 확보하기가 어려워 생산관리에서 지속 요청한다고 함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생산관리팀은 수주 시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ERP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에 지정되어 있는 업체별로 필요 납기일을 지정하고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ERP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내에서 발주함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,</a:t>
            </a:r>
            <a:endParaRPr lang="en-US" altLang="ko-KR" sz="1400" b="1">
              <a:solidFill>
                <a:sysClr val="windowText" lastClr="000000"/>
              </a:solidFill>
              <a:highlight>
                <a:srgbClr val="FF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시스템에서 수주 확정 건에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“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예상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”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생산관리는 업체별로 날짜만 기입하면 시스템에서 자동으로 발주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,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정산 연동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필요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&lt;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휴먼 에러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업무 시간 단축 가능</a:t>
            </a:r>
            <a:endParaRPr lang="en-US" altLang="ko-KR" sz="1400">
              <a:solidFill>
                <a:sysClr val="windowText" lastClr="000000"/>
              </a:solidFill>
              <a:highlight>
                <a:srgbClr val="00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현재 이 단계에서 타겟 납기일을 어떻게 세팅해서 엑셀에 기입하는지 확인 필수</a:t>
            </a:r>
            <a:endParaRPr lang="en-US" altLang="ko-KR" sz="1400">
              <a:solidFill>
                <a:sysClr val="windowText" lastClr="000000"/>
              </a:solidFill>
              <a:highlight>
                <a:srgbClr val="00FF00"/>
              </a:highlight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10F5F1-0179-94FC-8D4B-C6A184AF5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</a:t>
            </a:r>
            <a:r>
              <a:rPr lang="fr-FR" altLang="ko-KR" err="1"/>
              <a:t>Anjin</a:t>
            </a:r>
            <a:r>
              <a:rPr lang="fr-FR" altLang="ko-KR"/>
              <a:t> LLC </a:t>
            </a:r>
            <a:endParaRPr lang="fr-FR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DC6019-F1AB-205A-0092-FD060E624C92}"/>
              </a:ext>
            </a:extLst>
          </p:cNvPr>
          <p:cNvSpPr/>
          <p:nvPr/>
        </p:nvSpPr>
        <p:spPr bwMode="gray">
          <a:xfrm>
            <a:off x="9592733" y="142571"/>
            <a:ext cx="2467013" cy="255600"/>
          </a:xfrm>
          <a:prstGeom prst="rect">
            <a:avLst/>
          </a:prstGeom>
          <a:solidFill>
            <a:srgbClr val="00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200" b="1" err="1">
                <a:solidFill>
                  <a:sysClr val="windowText" lastClr="000000"/>
                </a:solidFill>
              </a:rPr>
              <a:t>딜로이트</a:t>
            </a:r>
            <a:r>
              <a:rPr lang="ko-KR" altLang="en-US" sz="1200" b="1">
                <a:solidFill>
                  <a:sysClr val="windowText" lastClr="000000"/>
                </a:solidFill>
              </a:rPr>
              <a:t> 추가 확인 예정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6BC749-5E11-E6D3-2AE5-0DF4EF47A08C}"/>
              </a:ext>
            </a:extLst>
          </p:cNvPr>
          <p:cNvSpPr/>
          <p:nvPr/>
        </p:nvSpPr>
        <p:spPr bwMode="gray">
          <a:xfrm>
            <a:off x="9592733" y="436859"/>
            <a:ext cx="2467013" cy="255600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200" b="1">
                <a:solidFill>
                  <a:sysClr val="windowText" lastClr="000000"/>
                </a:solidFill>
              </a:rPr>
              <a:t>휴먼 에러</a:t>
            </a:r>
            <a:r>
              <a:rPr lang="en-US" altLang="ko-KR" sz="1200" b="1">
                <a:solidFill>
                  <a:sysClr val="windowText" lastClr="000000"/>
                </a:solidFill>
              </a:rPr>
              <a:t>/</a:t>
            </a:r>
            <a:r>
              <a:rPr lang="ko-KR" altLang="en-US" sz="1200" b="1">
                <a:solidFill>
                  <a:sysClr val="windowText" lastClr="000000"/>
                </a:solidFill>
              </a:rPr>
              <a:t>업무 시간 축소 가능 영역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99E804-4779-D5F0-46C8-6689C0229FF8}"/>
              </a:ext>
            </a:extLst>
          </p:cNvPr>
          <p:cNvSpPr/>
          <p:nvPr/>
        </p:nvSpPr>
        <p:spPr bwMode="gray">
          <a:xfrm>
            <a:off x="-3203967" y="3104795"/>
            <a:ext cx="2773301" cy="78417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</a:rPr>
              <a:t>개발 소요 기간은 얼마가 걸릴지 모르고 생산관리에서는 깊게 관여 안 함</a:t>
            </a:r>
            <a:r>
              <a:rPr lang="en-US" altLang="ko-KR" sz="1000" b="1">
                <a:solidFill>
                  <a:schemeClr val="bg1"/>
                </a:solidFill>
              </a:rPr>
              <a:t>,</a:t>
            </a: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highlight>
                  <a:srgbClr val="FFFF00"/>
                </a:highlight>
              </a:rPr>
              <a:t>개발팀 확인 필요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053BD9-FEF0-89B6-F31A-19521D5A834C}"/>
              </a:ext>
            </a:extLst>
          </p:cNvPr>
          <p:cNvSpPr/>
          <p:nvPr/>
        </p:nvSpPr>
        <p:spPr bwMode="gray">
          <a:xfrm>
            <a:off x="-3203967" y="1728998"/>
            <a:ext cx="2773301" cy="397164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ko-KR" sz="1000" b="1">
                <a:solidFill>
                  <a:schemeClr val="bg1"/>
                </a:solidFill>
              </a:rPr>
              <a:t>T0</a:t>
            </a:r>
            <a:r>
              <a:rPr lang="ko-KR" altLang="en-US" sz="1000" b="1">
                <a:solidFill>
                  <a:schemeClr val="bg1"/>
                </a:solidFill>
              </a:rPr>
              <a:t> 막바지에 생산 스케줄링 진행</a:t>
            </a:r>
            <a:endParaRPr lang="en-US" altLang="ko-KR" sz="1000" b="1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854217-4FEE-3FFA-CCE0-843699D75D5B}"/>
              </a:ext>
            </a:extLst>
          </p:cNvPr>
          <p:cNvSpPr/>
          <p:nvPr/>
        </p:nvSpPr>
        <p:spPr bwMode="gray">
          <a:xfrm>
            <a:off x="-3203967" y="2195828"/>
            <a:ext cx="2773301" cy="78417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</a:rPr>
              <a:t>재생산 필요 시 품질팀에서 귀책을 결정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수량적 차이 발생에 대해서는 생산관리에서도 하나 나머지는 품질팀이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해당 업체는 발주서 없이 진행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BC3413-E51A-925F-466D-27D2BE79DA8A}"/>
              </a:ext>
            </a:extLst>
          </p:cNvPr>
          <p:cNvSpPr/>
          <p:nvPr/>
        </p:nvSpPr>
        <p:spPr bwMode="gray">
          <a:xfrm>
            <a:off x="-3203967" y="4657773"/>
            <a:ext cx="2773301" cy="59013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영업에서 수주 시 각 공정별로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BOM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에 깔리고 날짜 지정해서 업체가 맞는지 확인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날짜 지정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24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시간 이내로 발주 진행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A7BF4A-5E70-3392-A856-0052DAF9CC37}"/>
              </a:ext>
            </a:extLst>
          </p:cNvPr>
          <p:cNvSpPr/>
          <p:nvPr/>
        </p:nvSpPr>
        <p:spPr bwMode="gray">
          <a:xfrm>
            <a:off x="-3203967" y="3958638"/>
            <a:ext cx="2773301" cy="63728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ko-KR" sz="1000" b="1">
                <a:solidFill>
                  <a:schemeClr val="bg1"/>
                </a:solidFill>
              </a:rPr>
              <a:t>ERP</a:t>
            </a:r>
            <a:r>
              <a:rPr lang="ko-KR" altLang="en-US" sz="1000" b="1">
                <a:solidFill>
                  <a:schemeClr val="bg1"/>
                </a:solidFill>
              </a:rPr>
              <a:t>에서 검색해서 자동으로 발주할 수 있음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F9CF3E-BC52-6290-D3EB-6CD4A4CF6A71}"/>
              </a:ext>
            </a:extLst>
          </p:cNvPr>
          <p:cNvSpPr/>
          <p:nvPr/>
        </p:nvSpPr>
        <p:spPr bwMode="gray">
          <a:xfrm>
            <a:off x="-3203967" y="6430085"/>
            <a:ext cx="2773301" cy="570333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날짜 지정 로직 물어봐야 함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423328-B59B-F16D-71F1-907929D67532}"/>
              </a:ext>
            </a:extLst>
          </p:cNvPr>
          <p:cNvSpPr/>
          <p:nvPr/>
        </p:nvSpPr>
        <p:spPr bwMode="gray">
          <a:xfrm>
            <a:off x="12409757" y="2980005"/>
            <a:ext cx="2773301" cy="1241475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이해한 거 확인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pPr marL="171450" indent="-171450" algn="ctr">
              <a:lnSpc>
                <a:spcPct val="106000"/>
              </a:lnSpc>
              <a:buFont typeface="Wingdings" panose="05000000000000000000" pitchFamily="2" charset="2"/>
              <a:buChar char="à"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생산관리에서 날짜 조정해서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ERP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로 자동 발주 이후에 엑셀로 보내서 실제로 가능한지 확인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불가능할 경우 이후 날짜 조정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pPr marL="171450" indent="-171450" algn="ctr">
              <a:lnSpc>
                <a:spcPct val="106000"/>
              </a:lnSpc>
              <a:buFont typeface="Wingdings" panose="05000000000000000000" pitchFamily="2" charset="2"/>
              <a:buChar char="à"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첫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ERP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 날짜 조정은 정확히 얼마 정도 걸리는지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첫 날짜 조정 로직은 어떻게 되는지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A5AD4E-0E44-8226-00D8-74C8E233C25E}"/>
              </a:ext>
            </a:extLst>
          </p:cNvPr>
          <p:cNvSpPr/>
          <p:nvPr/>
        </p:nvSpPr>
        <p:spPr bwMode="gray">
          <a:xfrm>
            <a:off x="-3203967" y="5309758"/>
            <a:ext cx="2773301" cy="1052942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000" b="1" err="1">
                <a:solidFill>
                  <a:schemeClr val="bg1"/>
                </a:solidFill>
                <a:sym typeface="Wingdings" panose="05000000000000000000" pitchFamily="2" charset="2"/>
              </a:rPr>
              <a:t>외주처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진도 관리는 매일 엑셀 리스트를 수작업으로 작성하여 발송하고 회신을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ERP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에 재입력하는 방식으로 운영되며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이 업무에만 반나절 이상이 소요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입고요청 달력은 업체 분류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X</a:t>
            </a:r>
          </a:p>
          <a:p>
            <a:pPr algn="ctr">
              <a:lnSpc>
                <a:spcPct val="106000"/>
              </a:lnSpc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회신 받고 재확인에 시간이 많이 소요됨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E5D2A4-150C-96F0-3773-0ABF341265EF}"/>
              </a:ext>
            </a:extLst>
          </p:cNvPr>
          <p:cNvSpPr/>
          <p:nvPr/>
        </p:nvSpPr>
        <p:spPr bwMode="gray">
          <a:xfrm>
            <a:off x="12409757" y="4315731"/>
            <a:ext cx="2773301" cy="530589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수주가 되면 전부 물류 이동 일정까지 정해져 있는 건지</a:t>
            </a:r>
          </a:p>
        </p:txBody>
      </p:sp>
    </p:spTree>
    <p:extLst>
      <p:ext uri="{BB962C8B-B14F-4D97-AF65-F5344CB8AC3E}">
        <p14:creationId xmlns:p14="http://schemas.microsoft.com/office/powerpoint/2010/main" val="409222466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812A6-425A-C9AF-4508-E6D94C90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0E1A9B6-9520-B630-918C-2A4E7826AC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04" imgH="405" progId="TCLayout.ActiveDocument.1">
                  <p:embed/>
                </p:oleObj>
              </mc:Choice>
              <mc:Fallback>
                <p:oleObj name="think-cell 슬라이드" r:id="rId4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E1A9B6-9520-B630-918C-2A4E7826A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39B710-F7E6-0AD8-017B-EC51677CA52D}"/>
              </a:ext>
            </a:extLst>
          </p:cNvPr>
          <p:cNvSpPr/>
          <p:nvPr/>
        </p:nvSpPr>
        <p:spPr bwMode="gray">
          <a:xfrm>
            <a:off x="407276" y="142748"/>
            <a:ext cx="11377448" cy="607305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>
              <a:lnSpc>
                <a:spcPct val="106000"/>
              </a:lnSpc>
            </a:pPr>
            <a:r>
              <a:rPr lang="ko-KR" altLang="en-US" b="1">
                <a:solidFill>
                  <a:sysClr val="windowText" lastClr="000000"/>
                </a:solidFill>
              </a:rPr>
              <a:t>개발 시 고려 필요 항목 </a:t>
            </a:r>
            <a:r>
              <a:rPr lang="en-US" altLang="ko-KR" b="1">
                <a:solidFill>
                  <a:sysClr val="windowText" lastClr="000000"/>
                </a:solidFill>
              </a:rPr>
              <a:t>(</a:t>
            </a:r>
            <a:r>
              <a:rPr lang="ko-KR" altLang="en-US" b="1">
                <a:solidFill>
                  <a:sysClr val="windowText" lastClr="000000"/>
                </a:solidFill>
              </a:rPr>
              <a:t>내부 인터뷰 기반 작성 중</a:t>
            </a:r>
            <a:r>
              <a:rPr lang="en-US" altLang="ko-KR" b="1">
                <a:solidFill>
                  <a:sysClr val="windowText" lastClr="000000"/>
                </a:solidFill>
              </a:rPr>
              <a:t>, </a:t>
            </a:r>
            <a:r>
              <a:rPr lang="ko-KR" altLang="en-US" b="1">
                <a:solidFill>
                  <a:sysClr val="windowText" lastClr="000000"/>
                </a:solidFill>
              </a:rPr>
              <a:t>추후 실무진 </a:t>
            </a:r>
            <a:r>
              <a:rPr lang="ko-KR" altLang="en-US" b="1" err="1">
                <a:solidFill>
                  <a:sysClr val="windowText" lastClr="000000"/>
                </a:solidFill>
              </a:rPr>
              <a:t>재컨펌</a:t>
            </a:r>
            <a:r>
              <a:rPr lang="ko-KR" altLang="en-US" b="1">
                <a:solidFill>
                  <a:sysClr val="windowText" lastClr="000000"/>
                </a:solidFill>
              </a:rPr>
              <a:t> 예정</a:t>
            </a:r>
            <a:r>
              <a:rPr lang="en-US" altLang="ko-KR" b="1">
                <a:solidFill>
                  <a:sysClr val="windowText" lastClr="000000"/>
                </a:solidFill>
              </a:rPr>
              <a:t>)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ysClr val="windowText" lastClr="000000"/>
                </a:solidFill>
              </a:rPr>
              <a:t>(8)/(13)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생산 계획 확정</a:t>
            </a:r>
            <a:r>
              <a:rPr lang="en-US" altLang="ko-KR" sz="1400" b="1">
                <a:solidFill>
                  <a:sysClr val="windowText" lastClr="000000"/>
                </a:solidFill>
              </a:rPr>
              <a:t>/</a:t>
            </a:r>
            <a:r>
              <a:rPr lang="ko-KR" altLang="en-US" sz="1400" b="1">
                <a:solidFill>
                  <a:sysClr val="windowText" lastClr="000000"/>
                </a:solidFill>
              </a:rPr>
              <a:t>매일 확정 생산 계획 전달</a:t>
            </a:r>
            <a:r>
              <a:rPr lang="en-US" altLang="ko-KR" sz="1400" b="1">
                <a:solidFill>
                  <a:sysClr val="windowText" lastClr="000000"/>
                </a:solidFill>
              </a:rPr>
              <a:t> &lt;</a:t>
            </a:r>
            <a:r>
              <a:rPr lang="ko-KR" altLang="en-US" sz="1400" b="1">
                <a:solidFill>
                  <a:sysClr val="windowText" lastClr="000000"/>
                </a:solidFill>
              </a:rPr>
              <a:t>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생산관리팀에서 수기로 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ERP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에 입력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시스템에서 구현하면 휴먼 에러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업무 시간 축소 가능</a:t>
            </a: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외주처에서 엑셀에 기입해 회신한 생산 계획을 </a:t>
            </a:r>
            <a:r>
              <a:rPr lang="en-US" altLang="ko-KR" sz="1400">
                <a:solidFill>
                  <a:sysClr val="windowText" lastClr="000000"/>
                </a:solidFill>
              </a:rPr>
              <a:t>ERP</a:t>
            </a:r>
            <a:r>
              <a:rPr lang="ko-KR" altLang="en-US" sz="1400">
                <a:solidFill>
                  <a:sysClr val="windowText" lastClr="000000"/>
                </a:solidFill>
              </a:rPr>
              <a:t>에 수기로 기입 중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시스템 연동으로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ERP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에 확정 생산 계획 기입 될 수 있도록 개발 필요</a:t>
            </a:r>
            <a:endParaRPr lang="en-US" altLang="ko-KR" sz="1400">
              <a:solidFill>
                <a:sysClr val="windowText" lastClr="000000"/>
              </a:solidFill>
              <a:highlight>
                <a:srgbClr val="FF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매일 확정 생산 계획 전달 시 </a:t>
            </a:r>
            <a:r>
              <a:rPr lang="en-US" altLang="ko-KR" sz="1400">
                <a:solidFill>
                  <a:sysClr val="windowText" lastClr="000000"/>
                </a:solidFill>
              </a:rPr>
              <a:t>1) </a:t>
            </a:r>
            <a:r>
              <a:rPr lang="ko-KR" altLang="en-US" sz="1400">
                <a:solidFill>
                  <a:sysClr val="windowText" lastClr="000000"/>
                </a:solidFill>
              </a:rPr>
              <a:t>해당 업체에 발주된 모든 내용 포함</a:t>
            </a:r>
            <a:r>
              <a:rPr lang="en-US" altLang="ko-KR" sz="1400">
                <a:solidFill>
                  <a:sysClr val="windowText" lastClr="000000"/>
                </a:solidFill>
              </a:rPr>
              <a:t>, 2) </a:t>
            </a:r>
            <a:r>
              <a:rPr lang="ko-KR" altLang="en-US" sz="1400">
                <a:solidFill>
                  <a:sysClr val="windowText" lastClr="000000"/>
                </a:solidFill>
              </a:rPr>
              <a:t>예정 납기일 가까워진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(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기간 확인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)</a:t>
            </a:r>
            <a:r>
              <a:rPr lang="ko-KR" altLang="en-US" sz="1400">
                <a:solidFill>
                  <a:sysClr val="windowText" lastClr="000000"/>
                </a:solidFill>
              </a:rPr>
              <a:t> 발주 건에 대해서는 별도로 계획데로 납품될 지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컨펌</a:t>
            </a:r>
            <a:r>
              <a:rPr lang="ko-KR" altLang="en-US" sz="1400">
                <a:solidFill>
                  <a:sysClr val="windowText" lastClr="000000"/>
                </a:solidFill>
              </a:rPr>
              <a:t> 요청 </a:t>
            </a:r>
            <a:r>
              <a:rPr lang="en-US" altLang="ko-KR" sz="1400">
                <a:solidFill>
                  <a:sysClr val="windowText" lastClr="000000"/>
                </a:solidFill>
              </a:rPr>
              <a:t>(</a:t>
            </a:r>
            <a:r>
              <a:rPr lang="ko-KR" altLang="en-US" sz="1400">
                <a:solidFill>
                  <a:sysClr val="windowText" lastClr="000000"/>
                </a:solidFill>
              </a:rPr>
              <a:t>현재 외주처에서 먼저 알려주거나 실제로 지연되기 전에 확인하는 절차 부재</a:t>
            </a:r>
            <a:r>
              <a:rPr lang="en-US" altLang="ko-KR" sz="1400">
                <a:solidFill>
                  <a:sysClr val="windowText" lastClr="000000"/>
                </a:solidFill>
              </a:rPr>
              <a:t>, ERP</a:t>
            </a:r>
            <a:r>
              <a:rPr lang="ko-KR" altLang="en-US" sz="1400">
                <a:solidFill>
                  <a:sysClr val="windowText" lastClr="000000"/>
                </a:solidFill>
              </a:rPr>
              <a:t>에 납기 일자가 지연되면 그제서야 빨간색으로 변하고 생산관리팀에서 확인</a:t>
            </a:r>
            <a:r>
              <a:rPr lang="en-US" altLang="ko-KR" sz="1400">
                <a:solidFill>
                  <a:sysClr val="windowText" lastClr="000000"/>
                </a:solidFill>
              </a:rPr>
              <a:t>), 3) </a:t>
            </a:r>
            <a:r>
              <a:rPr lang="ko-KR" altLang="en-US" sz="1400">
                <a:solidFill>
                  <a:sysClr val="windowText" lastClr="000000"/>
                </a:solidFill>
              </a:rPr>
              <a:t>납기일 작일</a:t>
            </a:r>
            <a:r>
              <a:rPr lang="en-US" altLang="ko-KR" sz="1400">
                <a:solidFill>
                  <a:sysClr val="windowText" lastClr="000000"/>
                </a:solidFill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</a:rPr>
              <a:t>당일에 납기 가능 여부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컨펌</a:t>
            </a:r>
            <a:r>
              <a:rPr lang="ko-KR" altLang="en-US" sz="1400">
                <a:solidFill>
                  <a:sysClr val="windowText" lastClr="000000"/>
                </a:solidFill>
              </a:rPr>
              <a:t> 요청 </a:t>
            </a:r>
            <a:r>
              <a:rPr lang="en-US" altLang="ko-KR" sz="1400">
                <a:solidFill>
                  <a:sysClr val="windowText" lastClr="000000"/>
                </a:solidFill>
              </a:rPr>
              <a:t>(</a:t>
            </a:r>
            <a:r>
              <a:rPr lang="ko-KR" altLang="en-US" sz="1400">
                <a:solidFill>
                  <a:sysClr val="windowText" lastClr="000000"/>
                </a:solidFill>
              </a:rPr>
              <a:t>생산관리와 자재에도 명일</a:t>
            </a:r>
            <a:r>
              <a:rPr lang="en-US" altLang="ko-KR" sz="1400">
                <a:solidFill>
                  <a:sysClr val="windowText" lastClr="000000"/>
                </a:solidFill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</a:rPr>
              <a:t>당일 납기 수주 내역 별도 전달</a:t>
            </a:r>
            <a:r>
              <a:rPr lang="en-US" altLang="ko-KR" sz="1400">
                <a:solidFill>
                  <a:sysClr val="windowText" lastClr="000000"/>
                </a:solidFill>
              </a:rPr>
              <a:t>), 4) </a:t>
            </a:r>
            <a:r>
              <a:rPr lang="ko-KR" altLang="en-US" sz="1400">
                <a:solidFill>
                  <a:sysClr val="windowText" lastClr="000000"/>
                </a:solidFill>
              </a:rPr>
              <a:t>납기일 당일 업무 종료 시 납기 진행 여부 및 납품 수량 기입 및 거래 명세표 첨부 기능 추가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추후 정산과 연동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생산관리 팀에서 거래 명세표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FFFF00"/>
                </a:highlight>
              </a:rPr>
              <a:t>컨펌하고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 구매로 전달될 수 있도록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)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5)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납기일 당일 업무 종료 시 수령 업체에서 수령 여부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입고 수량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수입검사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00FF00"/>
                </a:highlight>
              </a:rPr>
              <a:t>컨펌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요청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미수령 시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00FF00"/>
                </a:highlight>
              </a:rPr>
              <a:t>전공정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업체 및 생산관리팀 노티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(5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번 항목의 경우  입고 수량 확인이나 수입검사를 진행하지 않는 업체들이 대부분이기에 현실적이지 않은 부분일 수 있어 추후 확인 필요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,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00FF00"/>
                </a:highlight>
              </a:rPr>
              <a:t>전공정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납품 수량과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00FF00"/>
                </a:highlight>
              </a:rPr>
              <a:t>후공정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입고 수량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00FF00"/>
                </a:highlight>
              </a:rPr>
              <a:t>미일치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시 각 업체 및 생산관리에게 노티 기능 개발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)</a:t>
            </a: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endParaRPr lang="en-US" altLang="ko-KR" sz="1400">
              <a:solidFill>
                <a:sysClr val="windowText" lastClr="000000"/>
              </a:solidFill>
            </a:endParaRP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ysClr val="windowText" lastClr="000000"/>
                </a:solidFill>
              </a:rPr>
              <a:t>(14)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확정 생산 계획 확인 및 준수 불가로 인한 납기일 조정 요청 및 품질 판정 요청 </a:t>
            </a:r>
            <a:r>
              <a:rPr lang="en-US" altLang="ko-KR" sz="1400" b="1">
                <a:solidFill>
                  <a:sysClr val="windowText" lastClr="000000"/>
                </a:solidFill>
              </a:rPr>
              <a:t>&lt;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일정 조정 및 품질 판정 요청을 카톡으로 하면서 놓치는 경우 발생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시스템에서 구현하면 휴먼 에러 축소 가능</a:t>
            </a:r>
            <a:endParaRPr lang="en-US" altLang="ko-KR" sz="1400" b="1">
              <a:solidFill>
                <a:sysClr val="windowText" lastClr="000000"/>
              </a:solidFill>
              <a:highlight>
                <a:srgbClr val="FF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en-US" altLang="ko-KR" sz="1400">
                <a:solidFill>
                  <a:sysClr val="windowText" lastClr="000000"/>
                </a:solidFill>
              </a:rPr>
              <a:t>(13)</a:t>
            </a:r>
            <a:r>
              <a:rPr lang="ko-KR" altLang="en-US" sz="1400">
                <a:solidFill>
                  <a:sysClr val="windowText" lastClr="000000"/>
                </a:solidFill>
              </a:rPr>
              <a:t>에서 전달한 확정 생산 계획 및 별도 </a:t>
            </a:r>
            <a:r>
              <a:rPr lang="en-US" altLang="ko-KR" sz="1400">
                <a:solidFill>
                  <a:sysClr val="windowText" lastClr="000000"/>
                </a:solidFill>
              </a:rPr>
              <a:t>Function</a:t>
            </a:r>
            <a:r>
              <a:rPr lang="ko-KR" altLang="en-US" sz="1400">
                <a:solidFill>
                  <a:sysClr val="windowText" lastClr="000000"/>
                </a:solidFill>
              </a:rPr>
              <a:t>으로 수주 건별로 납기일 조정 요청 할 수 있도록 시스템 구현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신청 시 생산관리팀에서 </a:t>
            </a:r>
            <a:r>
              <a:rPr lang="en-US" altLang="ko-KR" sz="1400">
                <a:solidFill>
                  <a:sysClr val="windowText" lastClr="000000"/>
                </a:solidFill>
              </a:rPr>
              <a:t>(17) </a:t>
            </a:r>
            <a:r>
              <a:rPr lang="ko-KR" altLang="en-US" sz="1400">
                <a:solidFill>
                  <a:sysClr val="windowText" lastClr="000000"/>
                </a:solidFill>
              </a:rPr>
              <a:t>스케줄 조정 진행하도록 노티 </a:t>
            </a:r>
            <a:r>
              <a:rPr lang="en-US" altLang="ko-KR" sz="1400">
                <a:solidFill>
                  <a:sysClr val="windowText" lastClr="000000"/>
                </a:solidFill>
              </a:rPr>
              <a:t>(13)</a:t>
            </a:r>
            <a:r>
              <a:rPr lang="ko-KR" altLang="en-US" sz="1400">
                <a:solidFill>
                  <a:sysClr val="windowText" lastClr="000000"/>
                </a:solidFill>
              </a:rPr>
              <a:t>에서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게획데로</a:t>
            </a:r>
            <a:r>
              <a:rPr lang="ko-KR" altLang="en-US" sz="1400">
                <a:solidFill>
                  <a:sysClr val="windowText" lastClr="000000"/>
                </a:solidFill>
              </a:rPr>
              <a:t> 납품될지</a:t>
            </a:r>
            <a:r>
              <a:rPr lang="en-US" altLang="ko-KR" sz="1400">
                <a:solidFill>
                  <a:sysClr val="windowText" lastClr="000000"/>
                </a:solidFill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</a:rPr>
              <a:t>명일</a:t>
            </a:r>
            <a:r>
              <a:rPr lang="en-US" altLang="ko-KR" sz="1400">
                <a:solidFill>
                  <a:sysClr val="windowText" lastClr="000000"/>
                </a:solidFill>
              </a:rPr>
              <a:t>,</a:t>
            </a:r>
            <a:r>
              <a:rPr lang="ko-KR" altLang="en-US" sz="1400">
                <a:solidFill>
                  <a:sysClr val="windowText" lastClr="000000"/>
                </a:solidFill>
              </a:rPr>
              <a:t> 당일 납품될 지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컨펌하는</a:t>
            </a:r>
            <a:r>
              <a:rPr lang="ko-KR" altLang="en-US" sz="1400">
                <a:solidFill>
                  <a:sysClr val="windowText" lastClr="000000"/>
                </a:solidFill>
              </a:rPr>
              <a:t> 단계에서도 불가 선택 시 바로 스케줄 조정 진행하도록 구현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별도 </a:t>
            </a:r>
            <a:r>
              <a:rPr lang="en-US" altLang="ko-KR" sz="1400">
                <a:solidFill>
                  <a:sysClr val="windowText" lastClr="000000"/>
                </a:solidFill>
              </a:rPr>
              <a:t>Function</a:t>
            </a:r>
            <a:r>
              <a:rPr lang="ko-KR" altLang="en-US" sz="1400">
                <a:solidFill>
                  <a:sysClr val="windowText" lastClr="000000"/>
                </a:solidFill>
              </a:rPr>
              <a:t>으로 품질 판정 요청 구현 필요 </a:t>
            </a:r>
            <a:r>
              <a:rPr lang="en-US" altLang="ko-KR" sz="1400">
                <a:solidFill>
                  <a:sysClr val="windowText" lastClr="000000"/>
                </a:solidFill>
              </a:rPr>
              <a:t>(WIP </a:t>
            </a:r>
            <a:r>
              <a:rPr lang="ko-KR" altLang="en-US" sz="1400">
                <a:solidFill>
                  <a:sysClr val="windowText" lastClr="000000"/>
                </a:solidFill>
              </a:rPr>
              <a:t>수령 시 불량 판정인지 모호할 경우 품질팀에 생산 </a:t>
            </a:r>
            <a:r>
              <a:rPr lang="en-US" altLang="ko-KR" sz="1400">
                <a:solidFill>
                  <a:sysClr val="windowText" lastClr="000000"/>
                </a:solidFill>
              </a:rPr>
              <a:t>Go/No Go </a:t>
            </a:r>
            <a:r>
              <a:rPr lang="ko-KR" altLang="en-US" sz="1400">
                <a:solidFill>
                  <a:sysClr val="windowText" lastClr="000000"/>
                </a:solidFill>
              </a:rPr>
              <a:t>요청</a:t>
            </a:r>
            <a:r>
              <a:rPr lang="en-US" altLang="ko-KR" sz="1400">
                <a:solidFill>
                  <a:sysClr val="windowText" lastClr="000000"/>
                </a:solidFill>
              </a:rPr>
              <a:t>) </a:t>
            </a:r>
            <a:r>
              <a:rPr lang="ko-KR" altLang="en-US" sz="1400">
                <a:solidFill>
                  <a:sysClr val="windowText" lastClr="000000"/>
                </a:solidFill>
              </a:rPr>
              <a:t>상세 설명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사진 및 동영상 첨부 기능 구현 필요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품질에서 해당 내용 바로 확인할 수 있도록 시스템 구현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품질에서</a:t>
            </a:r>
            <a:r>
              <a:rPr lang="en-US" altLang="ko-KR" sz="1400">
                <a:solidFill>
                  <a:sysClr val="windowText" lastClr="000000"/>
                </a:solidFill>
              </a:rPr>
              <a:t> </a:t>
            </a:r>
            <a:r>
              <a:rPr lang="ko-KR" altLang="en-US" sz="1400">
                <a:solidFill>
                  <a:sysClr val="windowText" lastClr="000000"/>
                </a:solidFill>
              </a:rPr>
              <a:t>확인 후 </a:t>
            </a:r>
            <a:r>
              <a:rPr lang="en-US" altLang="ko-KR" sz="1400">
                <a:solidFill>
                  <a:sysClr val="windowText" lastClr="000000"/>
                </a:solidFill>
              </a:rPr>
              <a:t>Go/No Go </a:t>
            </a:r>
            <a:r>
              <a:rPr lang="ko-KR" altLang="en-US" sz="1400">
                <a:solidFill>
                  <a:sysClr val="windowText" lastClr="000000"/>
                </a:solidFill>
              </a:rPr>
              <a:t>선택 및 방문 필요 시 방문 필요 및 방문 일정 기입 </a:t>
            </a:r>
            <a:r>
              <a:rPr lang="en-US" altLang="ko-KR" sz="1400">
                <a:solidFill>
                  <a:sysClr val="windowText" lastClr="000000"/>
                </a:solidFill>
              </a:rPr>
              <a:t>(</a:t>
            </a:r>
            <a:r>
              <a:rPr lang="ko-KR" altLang="en-US" sz="1400">
                <a:solidFill>
                  <a:sysClr val="windowText" lastClr="000000"/>
                </a:solidFill>
              </a:rPr>
              <a:t>이 기능은 사실 입고되었을 때 수입검사를 통해 미리 진행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되어야하는</a:t>
            </a:r>
            <a:r>
              <a:rPr lang="ko-KR" altLang="en-US" sz="1400">
                <a:solidFill>
                  <a:sysClr val="windowText" lastClr="000000"/>
                </a:solidFill>
              </a:rPr>
              <a:t> 부분이지만 대부분 업체에서 미진행해서 생산 직전에 상자를 뜯어보기에 매우 시급한 상황이 대다수</a:t>
            </a:r>
            <a:r>
              <a:rPr lang="en-US" altLang="ko-KR" sz="1400">
                <a:solidFill>
                  <a:sysClr val="windowText" lastClr="000000"/>
                </a:solidFill>
              </a:rPr>
              <a:t>)</a:t>
            </a:r>
          </a:p>
          <a:p>
            <a:pPr marL="0" lvl="1">
              <a:lnSpc>
                <a:spcPct val="106000"/>
              </a:lnSpc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ysClr val="windowText" lastClr="000000"/>
                </a:solidFill>
              </a:rPr>
              <a:t>(15)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확정 스케줄 기반 물류 슬롯 생성</a:t>
            </a:r>
            <a:r>
              <a:rPr lang="en-US" altLang="ko-KR" sz="1400" b="1">
                <a:solidFill>
                  <a:sysClr val="windowText" lastClr="000000"/>
                </a:solidFill>
              </a:rPr>
              <a:t> / (16)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물류 슬롯 기반 배차 정보 및 물류 상차 사양 기입 </a:t>
            </a:r>
            <a:r>
              <a:rPr lang="en-US" altLang="ko-KR" sz="1400" b="1">
                <a:solidFill>
                  <a:sysClr val="windowText" lastClr="000000"/>
                </a:solidFill>
              </a:rPr>
              <a:t>&lt; 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ODM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창고 미예약으로 납품 불가 케이스 존재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시스템에서 구현하면 휴먼 에러 축소 가능</a:t>
            </a:r>
            <a:endParaRPr lang="en-US" altLang="ko-KR" sz="1400" b="1">
              <a:solidFill>
                <a:sysClr val="windowText" lastClr="000000"/>
              </a:solidFill>
              <a:highlight>
                <a:srgbClr val="FF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모든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WIP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이동 및 완제품 납품 관련하여 물류 슬롯 생성을 생각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00FF00"/>
                </a:highlight>
              </a:rPr>
              <a:t>했었으나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창신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In/Out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WIP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및 완제품 납품만 물류 슬롯 생성 고려 중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 (WIP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외주처간 이동은 외주처에서 알아서 진행 중이며 자체 트럭 사용하는 경우 및 부자재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1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개만 이동하는 경우가 대다수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),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창신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Out/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외주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Out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기준 확인 필요</a:t>
            </a: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완제품 물류 슬롯에 자재팀에서 배차 정보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ODM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창고 예약 내역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(ODM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 창고에 입고 예약하지 않으면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ODM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에서 받아주지 않음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이에 관련하여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ODM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창고 입고 예약 일정 확인 및 자재팀에게 </a:t>
            </a:r>
            <a:r>
              <a:rPr lang="ko-KR" altLang="en-US" sz="1400" err="1">
                <a:solidFill>
                  <a:sysClr val="windowText" lastClr="000000"/>
                </a:solidFill>
                <a:highlight>
                  <a:srgbClr val="FFFF00"/>
                </a:highlight>
              </a:rPr>
              <a:t>노티하여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 해당 슬롯에 예약 내역 기입하는 기능 구현 필수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FFFF00"/>
                </a:highlight>
              </a:rPr>
              <a:t>)</a:t>
            </a:r>
            <a:r>
              <a:rPr lang="en-US" altLang="ko-KR" sz="1400">
                <a:solidFill>
                  <a:sysClr val="windowText" lastClr="000000"/>
                </a:solidFill>
              </a:rPr>
              <a:t> </a:t>
            </a:r>
            <a:r>
              <a:rPr lang="ko-KR" altLang="en-US" sz="1400">
                <a:solidFill>
                  <a:sysClr val="windowText" lastClr="000000"/>
                </a:solidFill>
              </a:rPr>
              <a:t>명세표 및 물류 상차 정보 기입 필요</a:t>
            </a:r>
            <a:r>
              <a:rPr lang="en-US" altLang="ko-KR" sz="1400">
                <a:solidFill>
                  <a:sysClr val="windowText" lastClr="000000"/>
                </a:solidFill>
              </a:rPr>
              <a:t>, (13)</a:t>
            </a:r>
            <a:r>
              <a:rPr lang="ko-KR" altLang="en-US" sz="1400">
                <a:solidFill>
                  <a:sysClr val="windowText" lastClr="000000"/>
                </a:solidFill>
              </a:rPr>
              <a:t>에서 납기일 당일 물류 슬롯 정보 함께 전달 필요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외주처에서 납품 시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PDA 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활용 가능 여부 확인 필요</a:t>
            </a:r>
            <a:endParaRPr lang="en-US" altLang="ko-KR" sz="1400">
              <a:solidFill>
                <a:sysClr val="windowText" lastClr="000000"/>
              </a:solidFill>
              <a:highlight>
                <a:srgbClr val="00FF00"/>
              </a:highlight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C51C4-58E4-CBC5-3C6C-9C0473FDD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</a:t>
            </a:r>
            <a:r>
              <a:rPr lang="fr-FR" altLang="ko-KR" err="1"/>
              <a:t>Anjin</a:t>
            </a:r>
            <a:r>
              <a:rPr lang="fr-FR" altLang="ko-KR"/>
              <a:t> LLC </a:t>
            </a:r>
            <a:endParaRPr lang="fr-FR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F703CB-2609-5BC4-F7B4-EB21D6A79F13}"/>
              </a:ext>
            </a:extLst>
          </p:cNvPr>
          <p:cNvSpPr/>
          <p:nvPr/>
        </p:nvSpPr>
        <p:spPr bwMode="gray">
          <a:xfrm>
            <a:off x="9592733" y="142571"/>
            <a:ext cx="2467013" cy="255600"/>
          </a:xfrm>
          <a:prstGeom prst="rect">
            <a:avLst/>
          </a:prstGeom>
          <a:solidFill>
            <a:srgbClr val="00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200" b="1" err="1">
                <a:solidFill>
                  <a:sysClr val="windowText" lastClr="000000"/>
                </a:solidFill>
              </a:rPr>
              <a:t>딜로이트</a:t>
            </a:r>
            <a:r>
              <a:rPr lang="ko-KR" altLang="en-US" sz="1200" b="1">
                <a:solidFill>
                  <a:sysClr val="windowText" lastClr="000000"/>
                </a:solidFill>
              </a:rPr>
              <a:t> 추가 확인 예정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B64E85-BD85-4A84-2A1D-A4EF4E8CFEF7}"/>
              </a:ext>
            </a:extLst>
          </p:cNvPr>
          <p:cNvSpPr/>
          <p:nvPr/>
        </p:nvSpPr>
        <p:spPr bwMode="gray">
          <a:xfrm>
            <a:off x="9592733" y="436859"/>
            <a:ext cx="2467013" cy="255600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200" b="1">
                <a:solidFill>
                  <a:sysClr val="windowText" lastClr="000000"/>
                </a:solidFill>
              </a:rPr>
              <a:t>휴먼 에러</a:t>
            </a:r>
            <a:r>
              <a:rPr lang="en-US" altLang="ko-KR" sz="1200" b="1">
                <a:solidFill>
                  <a:sysClr val="windowText" lastClr="000000"/>
                </a:solidFill>
              </a:rPr>
              <a:t>/</a:t>
            </a:r>
            <a:r>
              <a:rPr lang="ko-KR" altLang="en-US" sz="1200" b="1">
                <a:solidFill>
                  <a:sysClr val="windowText" lastClr="000000"/>
                </a:solidFill>
              </a:rPr>
              <a:t>업무 시간 축소 가능 영역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3B72CD-5129-FA75-A1E5-39EDAAF9627E}"/>
              </a:ext>
            </a:extLst>
          </p:cNvPr>
          <p:cNvSpPr/>
          <p:nvPr/>
        </p:nvSpPr>
        <p:spPr bwMode="gray">
          <a:xfrm>
            <a:off x="-3493060" y="69600"/>
            <a:ext cx="2773301" cy="970086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</a:rPr>
              <a:t>사출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 err="1">
                <a:solidFill>
                  <a:schemeClr val="bg1"/>
                </a:solidFill>
                <a:sym typeface="Wingdings" panose="05000000000000000000" pitchFamily="2" charset="2"/>
              </a:rPr>
              <a:t>후공정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3/10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에 넘어갔는데 후가공이 안 되어 있었음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(20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일 동안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)</a:t>
            </a: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문제가 있어서 반품을 요청했으나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16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일에 문제 있다고 통보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이를 창신에 내용 전달을 하지 않음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품질에서는 독단적으로 판단 후 오픈하지 않음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CC866A-86AD-106B-666C-2A21832BA0CC}"/>
              </a:ext>
            </a:extLst>
          </p:cNvPr>
          <p:cNvSpPr/>
          <p:nvPr/>
        </p:nvSpPr>
        <p:spPr bwMode="gray">
          <a:xfrm>
            <a:off x="-3493060" y="1118209"/>
            <a:ext cx="2773301" cy="646532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공정별로 납기일 며칠전에 확인해야 할지 기준 확인 필요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공정별 납기일 전에 확인하는 기능 필요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82D39A-E5E9-15A9-006F-D13C40AE3662}"/>
              </a:ext>
            </a:extLst>
          </p:cNvPr>
          <p:cNvSpPr/>
          <p:nvPr/>
        </p:nvSpPr>
        <p:spPr bwMode="gray">
          <a:xfrm>
            <a:off x="-3493060" y="1820172"/>
            <a:ext cx="2773301" cy="972113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외주업체에서 거래명세표를 올리면 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 err="1">
                <a:solidFill>
                  <a:schemeClr val="bg1"/>
                </a:solidFill>
                <a:sym typeface="Wingdings" panose="05000000000000000000" pitchFamily="2" charset="2"/>
              </a:rPr>
              <a:t>생관팀에서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확인 후 구매팀에서 정산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,</a:t>
            </a: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업체에서 전표를 누락하거나 </a:t>
            </a:r>
            <a:r>
              <a:rPr lang="ko-KR" altLang="en-US" sz="1000" b="1" err="1">
                <a:solidFill>
                  <a:schemeClr val="bg1"/>
                </a:solidFill>
                <a:sym typeface="Wingdings" panose="05000000000000000000" pitchFamily="2" charset="2"/>
              </a:rPr>
              <a:t>생관팀에서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놓치는 경우가 있어 완료 처리를 안 하고 넘어가는 경우 존재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,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매달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5-6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번 발생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,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24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시간 이내로 처리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업무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10-20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분 내로 가능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EA7C3E-A88D-457B-763F-4127F442B0DD}"/>
              </a:ext>
            </a:extLst>
          </p:cNvPr>
          <p:cNvSpPr/>
          <p:nvPr/>
        </p:nvSpPr>
        <p:spPr bwMode="gray">
          <a:xfrm>
            <a:off x="-3493060" y="2847717"/>
            <a:ext cx="2773301" cy="570333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생산 계획 수립해서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ERP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입력하고 조정하는 데에 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거의 하루를 다 사용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7675E1-A3B9-A20F-5AB6-839C4721B35D}"/>
              </a:ext>
            </a:extLst>
          </p:cNvPr>
          <p:cNvSpPr/>
          <p:nvPr/>
        </p:nvSpPr>
        <p:spPr bwMode="gray">
          <a:xfrm>
            <a:off x="13236188" y="-125980"/>
            <a:ext cx="2773301" cy="702984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시스템 내 거래명세표 적용 방식 및 시점 정의 필요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입고 예약한 외주 업체는 언제 거래명세표를 작성하는지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D5348A-253C-AB31-7D7A-AD1441B6CDF5}"/>
              </a:ext>
            </a:extLst>
          </p:cNvPr>
          <p:cNvSpPr/>
          <p:nvPr/>
        </p:nvSpPr>
        <p:spPr bwMode="gray">
          <a:xfrm>
            <a:off x="13236188" y="3409894"/>
            <a:ext cx="2773301" cy="508849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외주업체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 ODM/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협력 업체 직납 여부 누가 어떻게 정하는지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97927A-1908-7BB3-53E2-D24F427CE378}"/>
              </a:ext>
            </a:extLst>
          </p:cNvPr>
          <p:cNvSpPr/>
          <p:nvPr/>
        </p:nvSpPr>
        <p:spPr bwMode="gray">
          <a:xfrm>
            <a:off x="13236188" y="646401"/>
            <a:ext cx="2773301" cy="1121247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창신으로 들어오는 제품은 입고예약 후 거래 명세표 확인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구매 정산으로 넘어갈 때 누락되는 경우 있다고 했는데 어떤 경우인지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</a:t>
            </a: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창신에서 들여오는 건들 기준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외주업체가 거래명세표를 빼먹는 게 가능한지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검수실에서 항상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ERP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에 입력하는데 어떻게 누락되는 건지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5FC2A2-403F-5C39-0ECB-54FE7045D5BD}"/>
              </a:ext>
            </a:extLst>
          </p:cNvPr>
          <p:cNvSpPr/>
          <p:nvPr/>
        </p:nvSpPr>
        <p:spPr bwMode="gray">
          <a:xfrm>
            <a:off x="-3493060" y="5880092"/>
            <a:ext cx="2773301" cy="570333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완제품 납품 시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ODM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예약 노티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당일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/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전날 창신 입출고 노티  필요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품질팀에서 관련 자료 보유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2B2BDB-C3FA-DE10-71FF-E10AC8DD0CED}"/>
              </a:ext>
            </a:extLst>
          </p:cNvPr>
          <p:cNvSpPr/>
          <p:nvPr/>
        </p:nvSpPr>
        <p:spPr bwMode="gray">
          <a:xfrm>
            <a:off x="13236188" y="1816272"/>
            <a:ext cx="2773301" cy="726455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자재팀에서 안 들어온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WIP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및 완제품을 전화로 바로 노티 주는 걸로 알고 있는데 이후에는 어떻게 진행하는지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프로세스가 어떻게 되는지 이게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ERP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에 잘 반영되고 있는지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FCEFEB-B62E-37B2-F8AE-03555F120C19}"/>
              </a:ext>
            </a:extLst>
          </p:cNvPr>
          <p:cNvSpPr/>
          <p:nvPr/>
        </p:nvSpPr>
        <p:spPr bwMode="gray">
          <a:xfrm>
            <a:off x="13236187" y="4884006"/>
            <a:ext cx="2773301" cy="570333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한달 물량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40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억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 50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억 너무 적음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부족한 점 채운다고 했는데 현재 부족한 게 </a:t>
            </a:r>
            <a:r>
              <a:rPr lang="ko-KR" altLang="en-US" sz="1000" b="1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AA04393-1C1C-26FD-B9C2-81A35601D996}"/>
              </a:ext>
            </a:extLst>
          </p:cNvPr>
          <p:cNvSpPr/>
          <p:nvPr/>
        </p:nvSpPr>
        <p:spPr bwMode="gray">
          <a:xfrm>
            <a:off x="13236188" y="3997480"/>
            <a:ext cx="2773301" cy="807789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ODM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창고 </a:t>
            </a:r>
            <a:r>
              <a:rPr lang="ko-KR" altLang="en-US" sz="1000" b="1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미예약건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 한 달에 얼마정도 일어나는지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그럼 보통 납기일 며칠 정도 밀리는지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</a:t>
            </a: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협력업체가 </a:t>
            </a:r>
            <a:r>
              <a:rPr lang="ko-KR" altLang="en-US" sz="1000" b="1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갔어야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 되는데 못 간 건들은 비용 지불을 해주는지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C5BF14-1603-ABEF-8BD4-D1FA7E7DC657}"/>
              </a:ext>
            </a:extLst>
          </p:cNvPr>
          <p:cNvSpPr/>
          <p:nvPr/>
        </p:nvSpPr>
        <p:spPr bwMode="gray">
          <a:xfrm>
            <a:off x="13236187" y="5548298"/>
            <a:ext cx="2773301" cy="570333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공정별로 예정 납기일 가까워진 기간 기준 요청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납기일 임박한 건 자동 알람 기능을 위해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11FD92-C66C-71E0-603B-018B51129EB4}"/>
              </a:ext>
            </a:extLst>
          </p:cNvPr>
          <p:cNvSpPr/>
          <p:nvPr/>
        </p:nvSpPr>
        <p:spPr bwMode="gray">
          <a:xfrm>
            <a:off x="13236188" y="2615779"/>
            <a:ext cx="2773301" cy="711593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반출 건에 대한 품질 판정 요청 및 일정 조정에 평균 하루에 얼마 정도의 시간을 쓰시는지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?</a:t>
            </a: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반출 건 및 품질 판정 요청 건들은 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ERP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에 어떻게 입력되고 있는지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2E226BA-E7B9-70BF-8EDA-98D9FF799405}"/>
              </a:ext>
            </a:extLst>
          </p:cNvPr>
          <p:cNvSpPr/>
          <p:nvPr/>
        </p:nvSpPr>
        <p:spPr bwMode="gray">
          <a:xfrm>
            <a:off x="13236187" y="6211315"/>
            <a:ext cx="2773301" cy="775079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좀 규모 있고 가깝고 </a:t>
            </a:r>
            <a:r>
              <a:rPr lang="ko-KR" altLang="en-US" sz="1000" b="1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우리랑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 우호적인 외주 협력업체 인터뷰 어레인지 요청 </a:t>
            </a:r>
            <a:endParaRPr lang="en-US" altLang="ko-KR" sz="1000" b="1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이번주 내로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내일 오전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 1-2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명 정도 하고 위클리에 담기게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6FBAA5-39C7-D904-0592-3B000F5D664C}"/>
              </a:ext>
            </a:extLst>
          </p:cNvPr>
          <p:cNvSpPr/>
          <p:nvPr/>
        </p:nvSpPr>
        <p:spPr bwMode="gray">
          <a:xfrm>
            <a:off x="-3493060" y="6499134"/>
            <a:ext cx="2773301" cy="289266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 err="1">
                <a:solidFill>
                  <a:schemeClr val="bg1"/>
                </a:solidFill>
                <a:sym typeface="Wingdings" panose="05000000000000000000" pitchFamily="2" charset="2"/>
              </a:rPr>
              <a:t>외주처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b="1" err="1">
                <a:solidFill>
                  <a:schemeClr val="bg1"/>
                </a:solidFill>
                <a:sym typeface="Wingdings" panose="05000000000000000000" pitchFamily="2" charset="2"/>
              </a:rPr>
              <a:t>외주처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PDA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활용 불가능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70A81B5-352E-3B79-58C0-95905A421AE0}"/>
              </a:ext>
            </a:extLst>
          </p:cNvPr>
          <p:cNvSpPr/>
          <p:nvPr/>
        </p:nvSpPr>
        <p:spPr bwMode="gray">
          <a:xfrm>
            <a:off x="-3493060" y="5266117"/>
            <a:ext cx="2773301" cy="570333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창신으로 들어오는 제품은 검수 후 검수실에서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ERP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입력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나가는 제품은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PDA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로 자동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ERP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입력됨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37515C2-9757-CD16-5F88-B41D70CC2E83}"/>
              </a:ext>
            </a:extLst>
          </p:cNvPr>
          <p:cNvSpPr/>
          <p:nvPr/>
        </p:nvSpPr>
        <p:spPr bwMode="gray">
          <a:xfrm>
            <a:off x="-3493060" y="3504753"/>
            <a:ext cx="2773301" cy="570333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창신으로 들어온 </a:t>
            </a:r>
            <a:r>
              <a:rPr lang="ko-KR" altLang="en-US" sz="1000" b="1" err="1">
                <a:solidFill>
                  <a:schemeClr val="bg1"/>
                </a:solidFill>
                <a:sym typeface="Wingdings" panose="05000000000000000000" pitchFamily="2" charset="2"/>
              </a:rPr>
              <a:t>제풒에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대한 수량 부족 건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불량 건 등은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ERP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입력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X (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생산관리팀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cross-check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필요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), </a:t>
            </a:r>
            <a:r>
              <a:rPr lang="ko-KR" altLang="en-US" sz="1000" b="1">
                <a:highlight>
                  <a:srgbClr val="FFFF00"/>
                </a:highlight>
                <a:sym typeface="Wingdings" panose="05000000000000000000" pitchFamily="2" charset="2"/>
              </a:rPr>
              <a:t>생산관리팀 측 입력 필요 </a:t>
            </a:r>
            <a:r>
              <a:rPr lang="en-US" altLang="ko-KR" sz="1000" b="1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000" b="1">
                <a:highlight>
                  <a:srgbClr val="FFFF00"/>
                </a:highlight>
                <a:sym typeface="Wingdings" panose="05000000000000000000" pitchFamily="2" charset="2"/>
              </a:rPr>
              <a:t>추가 확인</a:t>
            </a:r>
            <a:r>
              <a:rPr lang="en-US" altLang="ko-KR" sz="1000" b="1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D6FDF7B-FA71-A7EF-9AD2-D4254A4C3E1B}"/>
              </a:ext>
            </a:extLst>
          </p:cNvPr>
          <p:cNvSpPr/>
          <p:nvPr/>
        </p:nvSpPr>
        <p:spPr bwMode="gray">
          <a:xfrm>
            <a:off x="-3493060" y="4118728"/>
            <a:ext cx="2773301" cy="490353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생산 계획 수립해서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ERP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입력하고 조정하는 데에 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거의 하루를 다 사용</a:t>
            </a:r>
            <a:endParaRPr lang="en-US" altLang="ko-KR" sz="10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9A5A9D9-CB7E-8CDF-2CD0-4A0DF1DF86BE}"/>
              </a:ext>
            </a:extLst>
          </p:cNvPr>
          <p:cNvSpPr/>
          <p:nvPr/>
        </p:nvSpPr>
        <p:spPr bwMode="gray">
          <a:xfrm>
            <a:off x="13236187" y="7019757"/>
            <a:ext cx="2773301" cy="547519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거래명세서가 있어야 예약이 가능한 건지</a:t>
            </a:r>
            <a:r>
              <a:rPr lang="en-US" altLang="ko-KR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ysClr val="windowText" lastClr="000000"/>
                </a:solidFill>
                <a:sym typeface="Wingdings" panose="05000000000000000000" pitchFamily="2" charset="2"/>
              </a:rPr>
              <a:t>언제 나와야 하는 건지</a:t>
            </a:r>
          </a:p>
        </p:txBody>
      </p:sp>
    </p:spTree>
    <p:extLst>
      <p:ext uri="{BB962C8B-B14F-4D97-AF65-F5344CB8AC3E}">
        <p14:creationId xmlns:p14="http://schemas.microsoft.com/office/powerpoint/2010/main" val="10533099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B7B3-A37A-3522-3AEA-DBA09D15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8DB79D8-5AA1-384F-8AF0-C0282408F3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04" imgH="405" progId="TCLayout.ActiveDocument.1">
                  <p:embed/>
                </p:oleObj>
              </mc:Choice>
              <mc:Fallback>
                <p:oleObj name="think-cell 슬라이드" r:id="rId4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B79D8-5AA1-384F-8AF0-C0282408F3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073F3-B8D8-6A38-B6D0-E98CA09D3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</a:t>
            </a:r>
            <a:r>
              <a:rPr lang="fr-FR" altLang="ko-KR" err="1"/>
              <a:t>Anjin</a:t>
            </a:r>
            <a:r>
              <a:rPr lang="fr-FR" altLang="ko-KR"/>
              <a:t> LLC </a:t>
            </a:r>
            <a:endParaRPr lang="fr-FR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C5D23A-F09D-CF6C-7915-3FD4517C751D}"/>
              </a:ext>
            </a:extLst>
          </p:cNvPr>
          <p:cNvSpPr/>
          <p:nvPr/>
        </p:nvSpPr>
        <p:spPr bwMode="gray">
          <a:xfrm>
            <a:off x="9592733" y="142571"/>
            <a:ext cx="2467013" cy="255600"/>
          </a:xfrm>
          <a:prstGeom prst="rect">
            <a:avLst/>
          </a:prstGeom>
          <a:solidFill>
            <a:srgbClr val="00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200" b="1" err="1">
                <a:solidFill>
                  <a:sysClr val="windowText" lastClr="000000"/>
                </a:solidFill>
              </a:rPr>
              <a:t>딜로이트</a:t>
            </a:r>
            <a:r>
              <a:rPr lang="ko-KR" altLang="en-US" sz="1200" b="1">
                <a:solidFill>
                  <a:sysClr val="windowText" lastClr="000000"/>
                </a:solidFill>
              </a:rPr>
              <a:t> 추가 확인 예정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433833-704A-49B1-8CD4-34BAB558531F}"/>
              </a:ext>
            </a:extLst>
          </p:cNvPr>
          <p:cNvSpPr/>
          <p:nvPr/>
        </p:nvSpPr>
        <p:spPr bwMode="gray">
          <a:xfrm>
            <a:off x="9592733" y="436859"/>
            <a:ext cx="2467013" cy="255600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200" b="1">
                <a:solidFill>
                  <a:sysClr val="windowText" lastClr="000000"/>
                </a:solidFill>
              </a:rPr>
              <a:t>휴먼 에러</a:t>
            </a:r>
            <a:r>
              <a:rPr lang="en-US" altLang="ko-KR" sz="1200" b="1">
                <a:solidFill>
                  <a:sysClr val="windowText" lastClr="000000"/>
                </a:solidFill>
              </a:rPr>
              <a:t>/</a:t>
            </a:r>
            <a:r>
              <a:rPr lang="ko-KR" altLang="en-US" sz="1200" b="1">
                <a:solidFill>
                  <a:sysClr val="windowText" lastClr="000000"/>
                </a:solidFill>
              </a:rPr>
              <a:t>업무 시간 축소 가능 영역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2C6AB7-EBC1-071F-9CCD-7424CB481576}"/>
              </a:ext>
            </a:extLst>
          </p:cNvPr>
          <p:cNvSpPr/>
          <p:nvPr/>
        </p:nvSpPr>
        <p:spPr bwMode="gray">
          <a:xfrm>
            <a:off x="407276" y="564659"/>
            <a:ext cx="11377448" cy="206678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ysClr val="windowText" lastClr="000000"/>
                </a:solidFill>
              </a:rPr>
              <a:t>(15)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확정 스케줄 기반 물류 슬롯 생성</a:t>
            </a:r>
            <a:r>
              <a:rPr lang="en-US" altLang="ko-KR" sz="1400" b="1">
                <a:solidFill>
                  <a:sysClr val="windowText" lastClr="000000"/>
                </a:solidFill>
              </a:rPr>
              <a:t> / (16)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물류 슬롯 기반 배차 정보 및 물류 상차 사양 기입 </a:t>
            </a:r>
            <a:r>
              <a:rPr lang="en-US" altLang="ko-KR" sz="1400" b="1">
                <a:solidFill>
                  <a:sysClr val="windowText" lastClr="000000"/>
                </a:solidFill>
              </a:rPr>
              <a:t>&lt; ODM </a:t>
            </a:r>
            <a:r>
              <a:rPr lang="ko-KR" altLang="en-US" sz="1400" b="1">
                <a:solidFill>
                  <a:sysClr val="windowText" lastClr="000000"/>
                </a:solidFill>
              </a:rPr>
              <a:t>창고 미예약으로 납품 불가 케이스 존재</a:t>
            </a:r>
            <a:r>
              <a:rPr lang="en-US" altLang="ko-KR" sz="1400" b="1">
                <a:solidFill>
                  <a:sysClr val="windowText" lastClr="000000"/>
                </a:solidFill>
              </a:rPr>
              <a:t>, </a:t>
            </a:r>
            <a:r>
              <a:rPr lang="ko-KR" altLang="en-US" sz="1400" b="1">
                <a:solidFill>
                  <a:sysClr val="windowText" lastClr="000000"/>
                </a:solidFill>
              </a:rPr>
              <a:t>시스템에서 구현하면 휴먼 에러 축소 가능</a:t>
            </a: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모든 </a:t>
            </a:r>
            <a:r>
              <a:rPr lang="en-US" altLang="ko-KR" sz="1400">
                <a:solidFill>
                  <a:sysClr val="windowText" lastClr="000000"/>
                </a:solidFill>
              </a:rPr>
              <a:t>WIP </a:t>
            </a:r>
            <a:r>
              <a:rPr lang="ko-KR" altLang="en-US" sz="1400">
                <a:solidFill>
                  <a:sysClr val="windowText" lastClr="000000"/>
                </a:solidFill>
              </a:rPr>
              <a:t>이동 및 완제품 납품 물류 슬롯 생성 및 각 물류 슬롯 유형별 필수 정보 기입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en-US" altLang="ko-KR" sz="1400">
                <a:solidFill>
                  <a:sysClr val="windowText" lastClr="000000"/>
                </a:solidFill>
              </a:rPr>
              <a:t>(13)</a:t>
            </a:r>
            <a:r>
              <a:rPr lang="ko-KR" altLang="en-US" sz="1400">
                <a:solidFill>
                  <a:sysClr val="windowText" lastClr="000000"/>
                </a:solidFill>
              </a:rPr>
              <a:t>에서 납기일 당일 물류 슬롯 정보 함께 전달 필요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모든 이동 슬롯 내 거래명세서</a:t>
            </a:r>
            <a:r>
              <a:rPr lang="en-US" altLang="ko-KR" sz="1400">
                <a:solidFill>
                  <a:sysClr val="windowText" lastClr="000000"/>
                </a:solidFill>
              </a:rPr>
              <a:t>(or </a:t>
            </a:r>
            <a:r>
              <a:rPr lang="ko-KR" altLang="en-US" sz="1400">
                <a:solidFill>
                  <a:sysClr val="windowText" lastClr="000000"/>
                </a:solidFill>
              </a:rPr>
              <a:t>전표</a:t>
            </a:r>
            <a:r>
              <a:rPr lang="en-US" altLang="ko-KR" sz="1400">
                <a:solidFill>
                  <a:sysClr val="windowText" lastClr="000000"/>
                </a:solidFill>
              </a:rPr>
              <a:t>) </a:t>
            </a:r>
            <a:r>
              <a:rPr lang="ko-KR" altLang="en-US" sz="1400">
                <a:solidFill>
                  <a:sysClr val="windowText" lastClr="000000"/>
                </a:solidFill>
              </a:rPr>
              <a:t>등</a:t>
            </a:r>
            <a:r>
              <a:rPr lang="en-US" altLang="ko-KR" sz="1400">
                <a:solidFill>
                  <a:sysClr val="windowText" lastClr="000000"/>
                </a:solidFill>
              </a:rPr>
              <a:t> </a:t>
            </a:r>
            <a:r>
              <a:rPr lang="ko-KR" altLang="en-US" sz="1400">
                <a:solidFill>
                  <a:sysClr val="windowText" lastClr="000000"/>
                </a:solidFill>
              </a:rPr>
              <a:t>물류 상차 정보 기입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완제품 물류 슬롯에 자재팀에서 </a:t>
            </a:r>
            <a:r>
              <a:rPr lang="en-US" altLang="ko-KR" sz="1400">
                <a:solidFill>
                  <a:sysClr val="windowText" lastClr="000000"/>
                </a:solidFill>
              </a:rPr>
              <a:t>ODM </a:t>
            </a:r>
            <a:r>
              <a:rPr lang="ko-KR" altLang="en-US" sz="1400">
                <a:solidFill>
                  <a:sysClr val="windowText" lastClr="000000"/>
                </a:solidFill>
              </a:rPr>
              <a:t>창고 입고 예약 일정 확인 및 자재팀에게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노티하여</a:t>
            </a:r>
            <a:r>
              <a:rPr lang="ko-KR" altLang="en-US" sz="1400">
                <a:solidFill>
                  <a:sysClr val="windowText" lastClr="000000"/>
                </a:solidFill>
              </a:rPr>
              <a:t> 해당 슬롯에 예약 내역 기입하는 기능 구현 </a:t>
            </a:r>
            <a:r>
              <a:rPr lang="en-US" altLang="ko-KR" sz="1400">
                <a:solidFill>
                  <a:sysClr val="windowText" lastClr="000000"/>
                </a:solidFill>
              </a:rPr>
              <a:t>(ODM</a:t>
            </a:r>
            <a:r>
              <a:rPr lang="ko-KR" altLang="en-US" sz="1400">
                <a:solidFill>
                  <a:sysClr val="windowText" lastClr="000000"/>
                </a:solidFill>
              </a:rPr>
              <a:t> 창고에 입고 예약하지 않으면 </a:t>
            </a:r>
            <a:r>
              <a:rPr lang="en-US" altLang="ko-KR" sz="1400">
                <a:solidFill>
                  <a:sysClr val="windowText" lastClr="000000"/>
                </a:solidFill>
              </a:rPr>
              <a:t>ODM</a:t>
            </a:r>
            <a:r>
              <a:rPr lang="ko-KR" altLang="en-US" sz="1400">
                <a:solidFill>
                  <a:sysClr val="windowText" lastClr="000000"/>
                </a:solidFill>
              </a:rPr>
              <a:t>에서 받아주지 않음</a:t>
            </a:r>
            <a:r>
              <a:rPr lang="en-US" altLang="ko-KR" sz="1400">
                <a:solidFill>
                  <a:sysClr val="windowText" lastClr="000000"/>
                </a:solidFill>
              </a:rPr>
              <a:t>)</a:t>
            </a:r>
            <a:endParaRPr lang="en-US" altLang="ko-KR" sz="1400">
              <a:solidFill>
                <a:sysClr val="windowText" lastClr="000000"/>
              </a:solidFill>
              <a:highlight>
                <a:srgbClr val="00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생산관리 측에서 창신에 들어오는 반제품 반송 이력 시스템에 입력 필요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.</a:t>
            </a: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창신에서 반제품 생산 후 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3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일 이내 출고가 이루어지지 않는 경우 외주업체에 배차 필요 여부 확인 노티</a:t>
            </a:r>
            <a:endParaRPr lang="en-US" altLang="ko-KR" sz="1400">
              <a:solidFill>
                <a:sysClr val="windowText" lastClr="000000"/>
              </a:solidFill>
              <a:highlight>
                <a:srgbClr val="00FF00"/>
              </a:highlight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endParaRPr lang="en-US" altLang="ko-KR" sz="1400">
              <a:solidFill>
                <a:sysClr val="windowText" lastClr="00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DF22E4D-52A9-E3D4-6C86-17A13A9FF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212428"/>
              </p:ext>
            </p:extLst>
          </p:nvPr>
        </p:nvGraphicFramePr>
        <p:xfrm>
          <a:off x="528320" y="2729112"/>
          <a:ext cx="11206480" cy="349876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580640">
                  <a:extLst>
                    <a:ext uri="{9D8B030D-6E8A-4147-A177-3AD203B41FA5}">
                      <a16:colId xmlns:a16="http://schemas.microsoft.com/office/drawing/2014/main" val="2209204309"/>
                    </a:ext>
                  </a:extLst>
                </a:gridCol>
                <a:gridCol w="8625840">
                  <a:extLst>
                    <a:ext uri="{9D8B030D-6E8A-4147-A177-3AD203B41FA5}">
                      <a16:colId xmlns:a16="http://schemas.microsoft.com/office/drawing/2014/main" val="2005521429"/>
                    </a:ext>
                  </a:extLst>
                </a:gridCol>
              </a:tblGrid>
              <a:tr h="285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물류 유형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시스템 구현 필요 영역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46035"/>
                  </a:ext>
                </a:extLst>
              </a:tr>
              <a:tr h="6816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창신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err="1">
                          <a:sym typeface="Wingdings" panose="05000000000000000000" pitchFamily="2" charset="2"/>
                        </a:rPr>
                        <a:t>외주처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반제품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)</a:t>
                      </a:r>
                      <a:endParaRPr lang="ko-KR" altLang="en-US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arenR"/>
                      </a:pPr>
                      <a:r>
                        <a:rPr lang="ko-KR" altLang="en-US"/>
                        <a:t>필수 정보 기입 기능</a:t>
                      </a:r>
                      <a:r>
                        <a:rPr lang="en-US" altLang="ko-KR"/>
                        <a:t>: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PDA</a:t>
                      </a:r>
                      <a:r>
                        <a:rPr lang="ko-KR" altLang="en-US"/>
                        <a:t> 기반 전표 </a:t>
                      </a:r>
                      <a:r>
                        <a:rPr lang="en-US" altLang="ko-KR"/>
                        <a:t>Data, QR </a:t>
                      </a:r>
                      <a:r>
                        <a:rPr lang="ko-KR" altLang="en-US"/>
                        <a:t>기입 필요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배차 여부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트럭 번호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운반 담당자 전화번호 등 포함</a:t>
                      </a:r>
                      <a:r>
                        <a:rPr lang="en-US" altLang="ko-KR"/>
                        <a:t>)</a:t>
                      </a:r>
                    </a:p>
                    <a:p>
                      <a:pPr marL="342900" indent="-342900" latinLnBrk="1">
                        <a:buAutoNum type="arabicParenR"/>
                      </a:pPr>
                      <a:r>
                        <a:rPr lang="ko-KR" altLang="en-US"/>
                        <a:t>노티 기능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창신에서 반제품 생산 후 </a:t>
                      </a:r>
                      <a:r>
                        <a:rPr lang="en-US" altLang="ko-KR"/>
                        <a:t>3</a:t>
                      </a:r>
                      <a:r>
                        <a:rPr lang="ko-KR" altLang="en-US"/>
                        <a:t>일간 출고가 이루어지지 않은 반제품은 담당 외주업체에 배차 필요 여부 확인 노티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배차 확인 시 트럭 번호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담당자 전화번호 자재팀에 노티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52374371"/>
                  </a:ext>
                </a:extLst>
              </a:tr>
              <a:tr h="5947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외주처</a:t>
                      </a:r>
                      <a:r>
                        <a:rPr lang="ko-KR" altLang="en-US"/>
                        <a:t>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err="1">
                          <a:sym typeface="Wingdings" panose="05000000000000000000" pitchFamily="2" charset="2"/>
                        </a:rPr>
                        <a:t>외주처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반제품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)</a:t>
                      </a:r>
                      <a:endParaRPr lang="ko-KR" altLang="en-US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arenR"/>
                      </a:pPr>
                      <a:r>
                        <a:rPr lang="ko-KR" altLang="en-US"/>
                        <a:t>필수 정보 기입 기능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거래명세서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87077908"/>
                  </a:ext>
                </a:extLst>
              </a:tr>
              <a:tr h="5947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외주처</a:t>
                      </a:r>
                      <a:r>
                        <a:rPr lang="ko-KR" altLang="en-US"/>
                        <a:t>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창신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반제품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완제품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)</a:t>
                      </a:r>
                      <a:endParaRPr lang="ko-KR" altLang="en-US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arenR"/>
                      </a:pPr>
                      <a:r>
                        <a:rPr lang="ko-KR" altLang="en-US"/>
                        <a:t>필수 정보 기입</a:t>
                      </a:r>
                      <a:r>
                        <a:rPr lang="en-US" altLang="ko-KR"/>
                        <a:t> </a:t>
                      </a:r>
                      <a:r>
                        <a:rPr lang="ko-KR" altLang="en-US"/>
                        <a:t>기능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거래명세서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창신 검수 완료 여부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반품 여부</a:t>
                      </a:r>
                      <a:r>
                        <a:rPr lang="en-US" altLang="ko-KR"/>
                        <a:t> </a:t>
                      </a:r>
                      <a:r>
                        <a:rPr lang="ko-KR" altLang="en-US"/>
                        <a:t>기입 필요</a:t>
                      </a:r>
                      <a:endParaRPr lang="en-US" altLang="ko-KR"/>
                    </a:p>
                    <a:p>
                      <a:pPr marL="342900" indent="-342900" latinLnBrk="1">
                        <a:buAutoNum type="arabicParenR"/>
                      </a:pPr>
                      <a:r>
                        <a:rPr lang="ko-KR" altLang="en-US"/>
                        <a:t>노티 기능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품질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수량 부족 등으로 인한 반품 시 생산관리팀에 </a:t>
                      </a:r>
                      <a:r>
                        <a:rPr lang="ko-KR" altLang="en-US" err="1"/>
                        <a:t>노티하여</a:t>
                      </a:r>
                      <a:r>
                        <a:rPr lang="ko-KR" altLang="en-US"/>
                        <a:t> 생산 일정 조정할 수 있는 기능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647959"/>
                  </a:ext>
                </a:extLst>
              </a:tr>
              <a:tr h="5947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외주처</a:t>
                      </a:r>
                      <a:r>
                        <a:rPr lang="ko-KR" altLang="en-US"/>
                        <a:t>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고객사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완제품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)</a:t>
                      </a:r>
                      <a:endParaRPr lang="ko-KR" altLang="en-US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arenR"/>
                      </a:pPr>
                      <a:r>
                        <a:rPr lang="ko-KR" altLang="en-US"/>
                        <a:t>필수 정보 기입 기능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거래명세서</a:t>
                      </a:r>
                      <a:r>
                        <a:rPr lang="en-US" altLang="ko-KR"/>
                        <a:t>, QR(ODM/</a:t>
                      </a:r>
                      <a:r>
                        <a:rPr lang="ko-KR" altLang="en-US"/>
                        <a:t>브랜드사 입고를 위한 </a:t>
                      </a:r>
                      <a:r>
                        <a:rPr lang="en-US" altLang="ko-KR"/>
                        <a:t>QR), ODM</a:t>
                      </a:r>
                      <a:r>
                        <a:rPr lang="ko-KR" altLang="en-US"/>
                        <a:t> 창고 예약 내역</a:t>
                      </a:r>
                      <a:endParaRPr lang="en-US" altLang="ko-KR"/>
                    </a:p>
                    <a:p>
                      <a:pPr marL="342900" marR="0" lvl="0" indent="-34290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/>
                        <a:t>노티 기능</a:t>
                      </a:r>
                      <a:r>
                        <a:rPr lang="en-US" altLang="ko-KR"/>
                        <a:t>(1): 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ODM 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예약 전 노티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(7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전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/3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전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전 등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예약 후 예약 내역 정보 </a:t>
                      </a:r>
                      <a:r>
                        <a:rPr lang="ko-KR" altLang="en-US" sz="135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미기입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시 자재팀에 별도 노티</a:t>
                      </a:r>
                      <a:endParaRPr lang="en-US" altLang="ko-KR"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1350" kern="12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노티 기능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(2): 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납기 전일 오후 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시 전까지 거래명세서 등록이 안 된 경우 자재팀에 노티</a:t>
                      </a:r>
                      <a:endParaRPr lang="en-US" altLang="ko-KR" sz="1350" kern="120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31531953"/>
                  </a:ext>
                </a:extLst>
              </a:tr>
              <a:tr h="5947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창신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고객사 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>
                          <a:sym typeface="Wingdings" panose="05000000000000000000" pitchFamily="2" charset="2"/>
                        </a:rPr>
                        <a:t>완제품</a:t>
                      </a:r>
                      <a:r>
                        <a:rPr lang="en-US" altLang="ko-KR">
                          <a:sym typeface="Wingdings" panose="05000000000000000000" pitchFamily="2" charset="2"/>
                        </a:rPr>
                        <a:t>)</a:t>
                      </a:r>
                      <a:endParaRPr lang="ko-KR" altLang="en-US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/>
                        <a:t>필수 정보 기입 기능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거래명세서</a:t>
                      </a:r>
                      <a:r>
                        <a:rPr lang="en-US" altLang="ko-KR"/>
                        <a:t>, QR(ODM/</a:t>
                      </a:r>
                      <a:r>
                        <a:rPr lang="ko-KR" altLang="en-US"/>
                        <a:t>브랜드사 입고를 위한 </a:t>
                      </a:r>
                      <a:r>
                        <a:rPr lang="en-US" altLang="ko-KR"/>
                        <a:t>QR), ODM</a:t>
                      </a:r>
                      <a:r>
                        <a:rPr lang="ko-KR" altLang="en-US"/>
                        <a:t> 창고 예약 내역</a:t>
                      </a:r>
                      <a:endParaRPr lang="en-US" altLang="ko-KR"/>
                    </a:p>
                    <a:p>
                      <a:pPr marL="342900" marR="0" lvl="0" indent="-34290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/>
                        <a:t>노티 기능</a:t>
                      </a:r>
                      <a:r>
                        <a:rPr lang="en-US" altLang="ko-KR"/>
                        <a:t>: 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ODM 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예약 전 노티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(7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전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/3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전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전 등</a:t>
                      </a: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예약 후 예약 내역 정보 </a:t>
                      </a:r>
                      <a:r>
                        <a:rPr lang="ko-KR" altLang="en-US" sz="135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미기입</a:t>
                      </a:r>
                      <a:r>
                        <a:rPr lang="ko-KR" altLang="en-US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시 자재팀에 별도 노티</a:t>
                      </a:r>
                      <a:endParaRPr lang="en-US" altLang="ko-KR"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2831642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5571B-5DDA-344B-EDFF-5645BD1E2DAE}"/>
              </a:ext>
            </a:extLst>
          </p:cNvPr>
          <p:cNvSpPr/>
          <p:nvPr/>
        </p:nvSpPr>
        <p:spPr bwMode="gray">
          <a:xfrm>
            <a:off x="-2366025" y="1566219"/>
            <a:ext cx="2773301" cy="570333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창신으로 들어온 </a:t>
            </a:r>
            <a:r>
              <a:rPr lang="ko-KR" altLang="en-US" sz="1000" b="1" err="1">
                <a:solidFill>
                  <a:schemeClr val="bg1"/>
                </a:solidFill>
                <a:sym typeface="Wingdings" panose="05000000000000000000" pitchFamily="2" charset="2"/>
              </a:rPr>
              <a:t>제풒에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 대한 수량 부족 건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불량 건 등은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ERP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입력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X (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생산관리팀 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cross-check </a:t>
            </a:r>
            <a:r>
              <a:rPr lang="ko-KR" altLang="en-US" sz="1000" b="1">
                <a:solidFill>
                  <a:schemeClr val="bg1"/>
                </a:solidFill>
                <a:sym typeface="Wingdings" panose="05000000000000000000" pitchFamily="2" charset="2"/>
              </a:rPr>
              <a:t>필요</a:t>
            </a:r>
            <a:r>
              <a:rPr lang="en-US" altLang="ko-KR" sz="1000" b="1">
                <a:solidFill>
                  <a:schemeClr val="bg1"/>
                </a:solidFill>
                <a:sym typeface="Wingdings" panose="05000000000000000000" pitchFamily="2" charset="2"/>
              </a:rPr>
              <a:t>), </a:t>
            </a:r>
            <a:r>
              <a:rPr lang="ko-KR" altLang="en-US" sz="1000" b="1">
                <a:highlight>
                  <a:srgbClr val="FFFF00"/>
                </a:highlight>
                <a:sym typeface="Wingdings" panose="05000000000000000000" pitchFamily="2" charset="2"/>
              </a:rPr>
              <a:t>생산관리팀 측 입력 필요 </a:t>
            </a:r>
            <a:r>
              <a:rPr lang="en-US" altLang="ko-KR" sz="1000" b="1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000" b="1">
                <a:highlight>
                  <a:srgbClr val="FFFF00"/>
                </a:highlight>
                <a:sym typeface="Wingdings" panose="05000000000000000000" pitchFamily="2" charset="2"/>
              </a:rPr>
              <a:t>추가 확인</a:t>
            </a:r>
            <a:r>
              <a:rPr lang="en-US" altLang="ko-KR" sz="1000" b="1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955983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C29B-BCD0-90D0-4EA5-47BA5F55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0419E49-91CF-2487-874C-AF98F7BDEA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04" imgH="405" progId="TCLayout.ActiveDocument.1">
                  <p:embed/>
                </p:oleObj>
              </mc:Choice>
              <mc:Fallback>
                <p:oleObj name="think-cell 슬라이드" r:id="rId4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419E49-91CF-2487-874C-AF98F7BDE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14A2C1-2D96-AB71-B126-D3C7F1CCA1E9}"/>
              </a:ext>
            </a:extLst>
          </p:cNvPr>
          <p:cNvSpPr/>
          <p:nvPr/>
        </p:nvSpPr>
        <p:spPr bwMode="gray">
          <a:xfrm>
            <a:off x="407276" y="142748"/>
            <a:ext cx="11377448" cy="607305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>
              <a:lnSpc>
                <a:spcPct val="106000"/>
              </a:lnSpc>
            </a:pPr>
            <a:r>
              <a:rPr lang="ko-KR" altLang="en-US" b="1">
                <a:solidFill>
                  <a:sysClr val="windowText" lastClr="000000"/>
                </a:solidFill>
              </a:rPr>
              <a:t>개발 시 고려 필요 항목 </a:t>
            </a:r>
            <a:r>
              <a:rPr lang="en-US" altLang="ko-KR" b="1">
                <a:solidFill>
                  <a:sysClr val="windowText" lastClr="000000"/>
                </a:solidFill>
              </a:rPr>
              <a:t>(</a:t>
            </a:r>
            <a:r>
              <a:rPr lang="ko-KR" altLang="en-US" b="1">
                <a:solidFill>
                  <a:sysClr val="windowText" lastClr="000000"/>
                </a:solidFill>
              </a:rPr>
              <a:t>내부 인터뷰 기반 작성 중</a:t>
            </a:r>
            <a:r>
              <a:rPr lang="en-US" altLang="ko-KR" b="1">
                <a:solidFill>
                  <a:sysClr val="windowText" lastClr="000000"/>
                </a:solidFill>
              </a:rPr>
              <a:t>, </a:t>
            </a:r>
            <a:r>
              <a:rPr lang="ko-KR" altLang="en-US" b="1">
                <a:solidFill>
                  <a:sysClr val="windowText" lastClr="000000"/>
                </a:solidFill>
              </a:rPr>
              <a:t>추후 실무진 </a:t>
            </a:r>
            <a:r>
              <a:rPr lang="ko-KR" altLang="en-US" b="1" err="1">
                <a:solidFill>
                  <a:sysClr val="windowText" lastClr="000000"/>
                </a:solidFill>
              </a:rPr>
              <a:t>재컨펌</a:t>
            </a:r>
            <a:r>
              <a:rPr lang="ko-KR" altLang="en-US" b="1">
                <a:solidFill>
                  <a:sysClr val="windowText" lastClr="000000"/>
                </a:solidFill>
              </a:rPr>
              <a:t> 예정</a:t>
            </a:r>
            <a:r>
              <a:rPr lang="en-US" altLang="ko-KR" b="1">
                <a:solidFill>
                  <a:sysClr val="windowText" lastClr="000000"/>
                </a:solidFill>
              </a:rPr>
              <a:t>)</a:t>
            </a:r>
          </a:p>
          <a:p>
            <a:pPr marL="285750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ysClr val="windowText" lastClr="000000"/>
                </a:solidFill>
              </a:rPr>
              <a:t>(10)/(11) </a:t>
            </a:r>
            <a:r>
              <a:rPr lang="ko-KR" altLang="en-US" sz="1400" b="1">
                <a:solidFill>
                  <a:sysClr val="windowText" lastClr="000000"/>
                </a:solidFill>
              </a:rPr>
              <a:t>구매팀 업무</a:t>
            </a:r>
            <a:r>
              <a:rPr lang="en-US" altLang="ko-KR" sz="1400" b="1">
                <a:solidFill>
                  <a:sysClr val="windowText" lastClr="000000"/>
                </a:solidFill>
              </a:rPr>
              <a:t> &lt;</a:t>
            </a:r>
            <a:r>
              <a:rPr lang="ko-KR" altLang="en-US" sz="1400" b="1">
                <a:solidFill>
                  <a:sysClr val="windowText" lastClr="000000"/>
                </a:solidFill>
              </a:rPr>
              <a:t>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생산관리팀에서 수기로 발주 내역 전달 및 정산 요청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시스템에서 구현하면 휴먼 에러</a:t>
            </a:r>
            <a:r>
              <a:rPr lang="en-US" altLang="ko-KR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400" b="1">
                <a:solidFill>
                  <a:sysClr val="windowText" lastClr="000000"/>
                </a:solidFill>
                <a:highlight>
                  <a:srgbClr val="FFFF00"/>
                </a:highlight>
              </a:rPr>
              <a:t>업무 시간 축소 가능</a:t>
            </a: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en-US" altLang="ko-KR" sz="1400">
                <a:solidFill>
                  <a:sysClr val="windowText" lastClr="000000"/>
                </a:solidFill>
              </a:rPr>
              <a:t>BOM </a:t>
            </a:r>
            <a:r>
              <a:rPr lang="ko-KR" altLang="en-US" sz="1400">
                <a:solidFill>
                  <a:sysClr val="windowText" lastClr="000000"/>
                </a:solidFill>
              </a:rPr>
              <a:t>계산 외 시스템 내 수주 내역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납품 내역 및 재생산 공제 내역 자동 정산 후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외주처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생산관리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구매팀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컨펌</a:t>
            </a:r>
            <a:r>
              <a:rPr lang="ko-KR" altLang="en-US" sz="1400">
                <a:solidFill>
                  <a:sysClr val="windowText" lastClr="000000"/>
                </a:solidFill>
              </a:rPr>
              <a:t> 후 정산될 수 있는 정산 프로세스 구현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상세 발주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정산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공제 프로세스</a:t>
            </a:r>
            <a:r>
              <a:rPr lang="en-US" altLang="ko-KR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  <a:highlight>
                  <a:srgbClr val="00FF00"/>
                </a:highlight>
              </a:rPr>
              <a:t>로직 확인 후 전달 예정</a:t>
            </a:r>
            <a:endParaRPr lang="en-US" altLang="ko-KR" sz="1400">
              <a:solidFill>
                <a:sysClr val="windowText" lastClr="000000"/>
              </a:solidFill>
              <a:highlight>
                <a:srgbClr val="00FF00"/>
              </a:highlight>
            </a:endParaRPr>
          </a:p>
          <a:p>
            <a:pPr marL="0" lvl="1">
              <a:lnSpc>
                <a:spcPct val="106000"/>
              </a:lnSpc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0" lvl="1">
              <a:lnSpc>
                <a:spcPct val="106000"/>
              </a:lnSpc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0" lvl="1">
              <a:lnSpc>
                <a:spcPct val="106000"/>
              </a:lnSpc>
            </a:pPr>
            <a:r>
              <a:rPr lang="en-US" altLang="ko-KR" sz="1400" b="1">
                <a:solidFill>
                  <a:sysClr val="windowText" lastClr="000000"/>
                </a:solidFill>
              </a:rPr>
              <a:t>---------------------------------------------------------------------------------------------------------------------------------------------------------------------------------------------------</a:t>
            </a:r>
          </a:p>
          <a:p>
            <a:pPr marL="0" lvl="1">
              <a:lnSpc>
                <a:spcPct val="106000"/>
              </a:lnSpc>
            </a:pP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285750" lvl="1" indent="-2857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ysClr val="windowText" lastClr="000000"/>
                </a:solidFill>
              </a:rPr>
              <a:t>생산관리</a:t>
            </a:r>
            <a:r>
              <a:rPr lang="en-US" altLang="ko-KR" sz="1400" b="1">
                <a:solidFill>
                  <a:sysClr val="windowText" lastClr="000000"/>
                </a:solidFill>
              </a:rPr>
              <a:t>/</a:t>
            </a:r>
            <a:r>
              <a:rPr lang="ko-KR" altLang="en-US" sz="1400" b="1" err="1">
                <a:solidFill>
                  <a:sysClr val="windowText" lastClr="000000"/>
                </a:solidFill>
              </a:rPr>
              <a:t>외주처</a:t>
            </a:r>
            <a:r>
              <a:rPr lang="ko-KR" altLang="en-US" sz="1400" b="1">
                <a:solidFill>
                  <a:sysClr val="windowText" lastClr="000000"/>
                </a:solidFill>
              </a:rPr>
              <a:t> 추가 개발 필요 영역</a:t>
            </a:r>
            <a:endParaRPr lang="en-US" altLang="ko-KR" sz="1400" b="1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 err="1">
                <a:solidFill>
                  <a:sysClr val="windowText" lastClr="000000"/>
                </a:solidFill>
              </a:rPr>
              <a:t>외주처</a:t>
            </a:r>
            <a:r>
              <a:rPr lang="ko-KR" altLang="en-US" sz="1400">
                <a:solidFill>
                  <a:sysClr val="windowText" lastClr="000000"/>
                </a:solidFill>
              </a:rPr>
              <a:t> 소재 금형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메인터넌스</a:t>
            </a:r>
            <a:r>
              <a:rPr lang="ko-KR" altLang="en-US" sz="1400">
                <a:solidFill>
                  <a:sysClr val="windowText" lastClr="000000"/>
                </a:solidFill>
              </a:rPr>
              <a:t> 필요 시 외주처가 생산관리를 통해 신청 및 관리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해당 금형 창신 내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금형관리팀에서</a:t>
            </a:r>
            <a:r>
              <a:rPr lang="ko-KR" altLang="en-US" sz="1400">
                <a:solidFill>
                  <a:sysClr val="windowText" lastClr="000000"/>
                </a:solidFill>
              </a:rPr>
              <a:t>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메인터넌스</a:t>
            </a:r>
            <a:r>
              <a:rPr lang="ko-KR" altLang="en-US" sz="1400">
                <a:solidFill>
                  <a:sysClr val="windowText" lastClr="000000"/>
                </a:solidFill>
              </a:rPr>
              <a:t> 진행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금형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메인터넌스</a:t>
            </a:r>
            <a:r>
              <a:rPr lang="ko-KR" altLang="en-US" sz="1400">
                <a:solidFill>
                  <a:sysClr val="windowText" lastClr="000000"/>
                </a:solidFill>
              </a:rPr>
              <a:t> 사이클 도래 시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외주처</a:t>
            </a:r>
            <a:r>
              <a:rPr lang="en-US" altLang="ko-KR" sz="1400">
                <a:solidFill>
                  <a:sysClr val="windowText" lastClr="000000"/>
                </a:solidFill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</a:rPr>
              <a:t>생산관리팀</a:t>
            </a:r>
            <a:r>
              <a:rPr lang="en-US" altLang="ko-KR" sz="1400">
                <a:solidFill>
                  <a:sysClr val="windowText" lastClr="000000"/>
                </a:solidFill>
              </a:rPr>
              <a:t>/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금형관리팀</a:t>
            </a:r>
            <a:r>
              <a:rPr lang="ko-KR" altLang="en-US" sz="1400">
                <a:solidFill>
                  <a:sysClr val="windowText" lastClr="000000"/>
                </a:solidFill>
              </a:rPr>
              <a:t> 노티 및 신청 시스템 내 구현 필요 </a:t>
            </a:r>
            <a:r>
              <a:rPr lang="en-US" altLang="ko-KR" sz="1400">
                <a:solidFill>
                  <a:sysClr val="windowText" lastClr="000000"/>
                </a:solidFill>
              </a:rPr>
              <a:t>(</a:t>
            </a:r>
            <a:r>
              <a:rPr lang="ko-KR" altLang="en-US" sz="1400">
                <a:solidFill>
                  <a:sysClr val="windowText" lastClr="000000"/>
                </a:solidFill>
              </a:rPr>
              <a:t>사이클 도래 전에도 문제 발생 시 신청할 수 있는 기능 구현 필요</a:t>
            </a:r>
            <a:r>
              <a:rPr lang="en-US" altLang="ko-KR" sz="1400">
                <a:solidFill>
                  <a:sysClr val="windowText" lastClr="000000"/>
                </a:solidFill>
              </a:rPr>
              <a:t>)</a:t>
            </a: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관련하여 금형 샷 수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 err="1">
                <a:solidFill>
                  <a:sysClr val="windowText" lastClr="000000"/>
                </a:solidFill>
              </a:rPr>
              <a:t>메인터넌스</a:t>
            </a:r>
            <a:r>
              <a:rPr lang="ko-KR" altLang="en-US" sz="1400">
                <a:solidFill>
                  <a:sysClr val="windowText" lastClr="000000"/>
                </a:solidFill>
              </a:rPr>
              <a:t> 사이클</a:t>
            </a:r>
            <a:r>
              <a:rPr lang="en-US" altLang="ko-KR" sz="1400">
                <a:solidFill>
                  <a:sysClr val="windowText" lastClr="000000"/>
                </a:solidFill>
              </a:rPr>
              <a:t> </a:t>
            </a:r>
            <a:r>
              <a:rPr lang="ko-KR" altLang="en-US" sz="1400">
                <a:solidFill>
                  <a:sysClr val="windowText" lastClr="000000"/>
                </a:solidFill>
              </a:rPr>
              <a:t> </a:t>
            </a:r>
            <a:r>
              <a:rPr lang="en-US" altLang="ko-KR" sz="1400">
                <a:solidFill>
                  <a:sysClr val="windowText" lastClr="000000"/>
                </a:solidFill>
              </a:rPr>
              <a:t>SKU </a:t>
            </a:r>
            <a:r>
              <a:rPr lang="ko-KR" altLang="en-US" sz="1400">
                <a:solidFill>
                  <a:sysClr val="windowText" lastClr="000000"/>
                </a:solidFill>
              </a:rPr>
              <a:t>마스터 메타 데이터에서 관리 필요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lvl="1">
              <a:lnSpc>
                <a:spcPct val="106000"/>
              </a:lnSpc>
            </a:pPr>
            <a:endParaRPr lang="en-US" altLang="ko-KR" sz="1400">
              <a:solidFill>
                <a:sysClr val="windowText" lastClr="000000"/>
              </a:solidFill>
            </a:endParaRPr>
          </a:p>
          <a:p>
            <a:pPr marL="285750" marR="0" lvl="1" indent="-28575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 Light"/>
                <a:ea typeface="나눔바른고딕 Light"/>
                <a:cs typeface="+mn-cs"/>
              </a:rPr>
              <a:t>시스템 전반 추가 개발 필요 영역</a:t>
            </a:r>
            <a:endParaRPr lang="en-US" altLang="ko-KR" sz="1400">
              <a:solidFill>
                <a:sysClr val="windowText" lastClr="000000"/>
              </a:solidFill>
            </a:endParaRPr>
          </a:p>
          <a:p>
            <a:pPr marL="742950" lvl="1" indent="-285750">
              <a:lnSpc>
                <a:spcPct val="106000"/>
              </a:lnSpc>
              <a:buFont typeface="Open Sans Light" panose="020B0306030504020204" pitchFamily="34" charset="0"/>
              <a:buChar char="–"/>
            </a:pPr>
            <a:r>
              <a:rPr lang="ko-KR" altLang="en-US" sz="1400">
                <a:solidFill>
                  <a:sysClr val="windowText" lastClr="000000"/>
                </a:solidFill>
              </a:rPr>
              <a:t>커뮤니케이션 채널 확정 이후</a:t>
            </a:r>
            <a:r>
              <a:rPr lang="en-US" altLang="ko-KR" sz="1400">
                <a:solidFill>
                  <a:sysClr val="windowText" lastClr="000000"/>
                </a:solidFill>
              </a:rPr>
              <a:t>, </a:t>
            </a:r>
            <a:r>
              <a:rPr lang="ko-KR" altLang="en-US" sz="1400">
                <a:solidFill>
                  <a:sysClr val="windowText" lastClr="000000"/>
                </a:solidFill>
              </a:rPr>
              <a:t>소속 팀</a:t>
            </a:r>
            <a:r>
              <a:rPr lang="en-US" altLang="ko-KR" sz="1400">
                <a:solidFill>
                  <a:sysClr val="windowText" lastClr="000000"/>
                </a:solidFill>
              </a:rPr>
              <a:t>/</a:t>
            </a:r>
            <a:r>
              <a:rPr lang="ko-KR" altLang="en-US" sz="1400">
                <a:solidFill>
                  <a:sysClr val="windowText" lastClr="000000"/>
                </a:solidFill>
              </a:rPr>
              <a:t>담당 업무별로 연결된 업무에만 노티를 받을 수 있도록 연결 필요</a:t>
            </a:r>
            <a:endParaRPr lang="en-US" altLang="ko-KR" sz="1400">
              <a:solidFill>
                <a:sysClr val="windowText" lastClr="000000"/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C3FF3E-082C-96B2-4410-8560CD85B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</a:t>
            </a:r>
            <a:r>
              <a:rPr lang="fr-FR" altLang="ko-KR" err="1"/>
              <a:t>Anjin</a:t>
            </a:r>
            <a:r>
              <a:rPr lang="fr-FR" altLang="ko-KR"/>
              <a:t> LLC </a:t>
            </a:r>
            <a:endParaRPr lang="fr-FR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76196E-3C76-44B3-2B70-A5FD9CA5DBEA}"/>
              </a:ext>
            </a:extLst>
          </p:cNvPr>
          <p:cNvSpPr/>
          <p:nvPr/>
        </p:nvSpPr>
        <p:spPr bwMode="gray">
          <a:xfrm>
            <a:off x="9592733" y="142571"/>
            <a:ext cx="2467013" cy="255600"/>
          </a:xfrm>
          <a:prstGeom prst="rect">
            <a:avLst/>
          </a:prstGeom>
          <a:solidFill>
            <a:srgbClr val="00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200" b="1" err="1">
                <a:solidFill>
                  <a:sysClr val="windowText" lastClr="000000"/>
                </a:solidFill>
              </a:rPr>
              <a:t>딜로이트</a:t>
            </a:r>
            <a:r>
              <a:rPr lang="ko-KR" altLang="en-US" sz="1200" b="1">
                <a:solidFill>
                  <a:sysClr val="windowText" lastClr="000000"/>
                </a:solidFill>
              </a:rPr>
              <a:t> 추가 확인 예정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CE4855-183F-6BBB-D829-D8126BC65D4C}"/>
              </a:ext>
            </a:extLst>
          </p:cNvPr>
          <p:cNvSpPr/>
          <p:nvPr/>
        </p:nvSpPr>
        <p:spPr bwMode="gray">
          <a:xfrm>
            <a:off x="9592733" y="436859"/>
            <a:ext cx="2467013" cy="255600"/>
          </a:xfrm>
          <a:prstGeom prst="rect">
            <a:avLst/>
          </a:prstGeom>
          <a:solidFill>
            <a:srgbClr val="FFFF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ko-KR" altLang="en-US" sz="1200" b="1">
                <a:solidFill>
                  <a:sysClr val="windowText" lastClr="000000"/>
                </a:solidFill>
              </a:rPr>
              <a:t>휴먼 에러</a:t>
            </a:r>
            <a:r>
              <a:rPr lang="en-US" altLang="ko-KR" sz="1200" b="1">
                <a:solidFill>
                  <a:sysClr val="windowText" lastClr="000000"/>
                </a:solidFill>
              </a:rPr>
              <a:t>/</a:t>
            </a:r>
            <a:r>
              <a:rPr lang="ko-KR" altLang="en-US" sz="1200" b="1">
                <a:solidFill>
                  <a:sysClr val="windowText" lastClr="000000"/>
                </a:solidFill>
              </a:rPr>
              <a:t>업무 시간 축소 가능 영역</a:t>
            </a:r>
          </a:p>
        </p:txBody>
      </p:sp>
    </p:spTree>
    <p:extLst>
      <p:ext uri="{BB962C8B-B14F-4D97-AF65-F5344CB8AC3E}">
        <p14:creationId xmlns:p14="http://schemas.microsoft.com/office/powerpoint/2010/main" val="262799906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 Brand Theme_16_9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007CB0"/>
      </a:hlink>
      <a:folHlink>
        <a:srgbClr val="75787B"/>
      </a:folHlink>
    </a:clrScheme>
    <a:fontScheme name="PPT">
      <a:majorFont>
        <a:latin typeface="Open Sans"/>
        <a:ea typeface="나눔바른고딕"/>
        <a:cs typeface=""/>
      </a:majorFont>
      <a:minorFont>
        <a:latin typeface="Open Sans Light"/>
        <a:ea typeface="나눔바른고딕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Brand Theme_16_9" id="{840AA631-0A83-4DD6-9907-F72104C89C61}" vid="{D2BF4AC3-9DEE-4FFB-8B8C-19C25B57085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7CA8EE0E844E643B8CA791111AFD7E2" ma:contentTypeVersion="0" ma:contentTypeDescription="새 문서를 만듭니다." ma:contentTypeScope="" ma:versionID="9fa3b5b8178506baa7fcd1178dbb747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c404134a2d9eb06aac9a8ac39524bd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D0E31E-D124-46BD-97FB-ECBAA8232C9D}">
  <ds:schemaRefs>
    <ds:schemaRef ds:uri="ca15cc3f-c579-4817-a893-dc320a61e38b"/>
    <ds:schemaRef ds:uri="ed296d02-e574-41d0-b5c5-375a1b104a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FCF778E-8461-4ABF-A0D5-D85A995BDFC7}"/>
</file>

<file path=customXml/itemProps3.xml><?xml version="1.0" encoding="utf-8"?>
<ds:datastoreItem xmlns:ds="http://schemas.openxmlformats.org/officeDocument/2006/customXml" ds:itemID="{AAE99222-A326-455E-9423-06C3FDFD3F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Deloitte Brand Theme_16_9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Suh, Ju Hyun</dc:creator>
  <cp:revision>1</cp:revision>
  <dcterms:created xsi:type="dcterms:W3CDTF">2026-03-24T00:22:10Z</dcterms:created>
  <dcterms:modified xsi:type="dcterms:W3CDTF">2026-03-31T09:24:43Z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0x01010027CA8EE0E844E643B8CA791111AFD7E2</vt:lpwstr>
  </property>
  <property fmtid="{D5CDD505-2E9C-101B-9397-08002B2CF9AE}" pid="3" name="MediaServiceImageTags">
    <vt:lpwstr/>
  </property>
</Properties>
</file>